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306" r:id="rId2"/>
    <p:sldId id="267" r:id="rId3"/>
    <p:sldId id="256" r:id="rId4"/>
    <p:sldId id="257" r:id="rId5"/>
    <p:sldId id="258" r:id="rId6"/>
    <p:sldId id="259" r:id="rId7"/>
    <p:sldId id="260" r:id="rId8"/>
    <p:sldId id="261" r:id="rId9"/>
    <p:sldId id="307" r:id="rId10"/>
    <p:sldId id="308" r:id="rId11"/>
    <p:sldId id="262" r:id="rId12"/>
    <p:sldId id="263" r:id="rId13"/>
    <p:sldId id="264" r:id="rId14"/>
    <p:sldId id="265" r:id="rId15"/>
    <p:sldId id="304" r:id="rId16"/>
    <p:sldId id="305" r:id="rId17"/>
    <p:sldId id="303" r:id="rId18"/>
  </p:sldIdLst>
  <p:sldSz cx="14630400" cy="8229600"/>
  <p:notesSz cx="8229600" cy="14630400"/>
  <p:embeddedFontLst>
    <p:embeddedFont>
      <p:font typeface="Calibri (MS)" panose="020B0604020202020204" charset="0"/>
      <p:regular r:id="rId20"/>
    </p:embeddedFont>
    <p:embeddedFont>
      <p:font typeface="Calibri (MS) Bold" panose="020B0604020202020204" charset="0"/>
      <p:regular r:id="rId21"/>
    </p:embeddedFont>
    <p:embeddedFont>
      <p:font typeface="Gill Sans MT" panose="020B0502020104020203" pitchFamily="34" charset="0"/>
      <p:regular r:id="rId22"/>
      <p:bold r:id="rId23"/>
      <p:italic r:id="rId24"/>
      <p:boldItalic r:id="rId25"/>
    </p:embeddedFont>
    <p:embeddedFont>
      <p:font typeface="Instrument Sans Medium" panose="020B0604020202020204" charset="0"/>
      <p:regular r:id="rId26"/>
    </p:embeddedFont>
    <p:embeddedFont>
      <p:font typeface="Instrument Sans Semi Bold"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8517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58E44-925D-33DE-257D-5CAB61836A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6C209-5A01-D6D0-F4B2-4C0BCB0E3F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C19FD-D1D4-3105-6E30-766D343B20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6B781E-7E0E-359B-CAF2-1EA4B9124EF4}"/>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570486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E475F-F35D-E338-8EA9-5DA43D9C7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539D7-3528-BA44-B062-8C9731D76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54FFF8-159F-7B71-9877-1CB8917F9B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B6CA69-BF2A-F517-EAF9-C78F36292802}"/>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2795608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6123" y="0"/>
            <a:ext cx="14656525" cy="82296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5724798" y="-3551992"/>
            <a:ext cx="3154680" cy="14656525"/>
          </a:xfrm>
        </p:spPr>
        <p:txBody>
          <a:bodyPr vert="eaVert">
            <a:normAutofit/>
          </a:bodyPr>
          <a:lstStyle>
            <a:lvl1pPr algn="ctr">
              <a:defRPr sz="9600">
                <a:solidFill>
                  <a:schemeClr val="bg1"/>
                </a:solidFill>
              </a:defRPr>
            </a:lvl1pPr>
          </a:lstStyle>
          <a:p>
            <a:r>
              <a:rPr lang="en-US" dirty="0"/>
              <a:t>Thank You</a:t>
            </a:r>
          </a:p>
        </p:txBody>
      </p:sp>
    </p:spTree>
    <p:extLst>
      <p:ext uri="{BB962C8B-B14F-4D97-AF65-F5344CB8AC3E}">
        <p14:creationId xmlns:p14="http://schemas.microsoft.com/office/powerpoint/2010/main" val="4191906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C5688E-AB59-8DAE-2884-E5EF629A4270}"/>
              </a:ext>
            </a:extLst>
          </p:cNvPr>
          <p:cNvSpPr>
            <a:spLocks noGrp="1"/>
          </p:cNvSpPr>
          <p:nvPr>
            <p:ph type="dt" sz="half" idx="10"/>
          </p:nvPr>
        </p:nvSpPr>
        <p:spPr/>
        <p:txBody>
          <a:bodyPr/>
          <a:lstStyle/>
          <a:p>
            <a:fld id="{DE3951B7-5837-40D7-A284-C287FC16DA88}" type="datetimeFigureOut">
              <a:rPr lang="en-IN" smtClean="0"/>
              <a:t>10-10-2025</a:t>
            </a:fld>
            <a:endParaRPr lang="en-IN"/>
          </a:p>
        </p:txBody>
      </p:sp>
      <p:sp>
        <p:nvSpPr>
          <p:cNvPr id="3" name="Footer Placeholder 2">
            <a:extLst>
              <a:ext uri="{FF2B5EF4-FFF2-40B4-BE49-F238E27FC236}">
                <a16:creationId xmlns:a16="http://schemas.microsoft.com/office/drawing/2014/main" id="{041768F9-268D-1E21-05D9-7901D4E1F1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8CE354-DFC3-EA2B-05DA-B7154B671742}"/>
              </a:ext>
            </a:extLst>
          </p:cNvPr>
          <p:cNvSpPr>
            <a:spLocks noGrp="1"/>
          </p:cNvSpPr>
          <p:nvPr>
            <p:ph type="sldNum" sz="quarter" idx="12"/>
          </p:nvPr>
        </p:nvSpPr>
        <p:spPr/>
        <p:txBody>
          <a:bodyPr/>
          <a:lstStyle/>
          <a:p>
            <a:fld id="{FEFB1823-63EE-423F-9C0B-A09E9E56188F}" type="slidenum">
              <a:rPr lang="en-IN" smtClean="0"/>
              <a:t>‹#›</a:t>
            </a:fld>
            <a:endParaRPr lang="en-IN"/>
          </a:p>
        </p:txBody>
      </p:sp>
    </p:spTree>
    <p:extLst>
      <p:ext uri="{BB962C8B-B14F-4D97-AF65-F5344CB8AC3E}">
        <p14:creationId xmlns:p14="http://schemas.microsoft.com/office/powerpoint/2010/main" val="33650487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F61CB4-EFD8-4FB2-AC1D-5731103B6470}"/>
              </a:ext>
            </a:extLst>
          </p:cNvPr>
          <p:cNvPicPr>
            <a:picLocks noChangeAspect="1"/>
          </p:cNvPicPr>
          <p:nvPr/>
        </p:nvPicPr>
        <p:blipFill rotWithShape="1">
          <a:blip r:embed="rId2">
            <a:extLst>
              <a:ext uri="{28A0092B-C50C-407E-A947-70E740481C1C}">
                <a14:useLocalDpi xmlns:a14="http://schemas.microsoft.com/office/drawing/2010/main" val="0"/>
              </a:ext>
            </a:extLst>
          </a:blip>
          <a:srcRect b="19"/>
          <a:stretch/>
        </p:blipFill>
        <p:spPr>
          <a:xfrm>
            <a:off x="24" y="1538"/>
            <a:ext cx="14630376" cy="8228062"/>
          </a:xfrm>
          <a:prstGeom prst="rect">
            <a:avLst/>
          </a:prstGeom>
        </p:spPr>
      </p:pic>
      <p:sp>
        <p:nvSpPr>
          <p:cNvPr id="2" name="TextBox 1">
            <a:extLst>
              <a:ext uri="{FF2B5EF4-FFF2-40B4-BE49-F238E27FC236}">
                <a16:creationId xmlns:a16="http://schemas.microsoft.com/office/drawing/2014/main" id="{C85AB3DA-940A-D577-FA37-54817ADD156C}"/>
              </a:ext>
            </a:extLst>
          </p:cNvPr>
          <p:cNvSpPr txBox="1"/>
          <p:nvPr/>
        </p:nvSpPr>
        <p:spPr>
          <a:xfrm>
            <a:off x="4216854" y="1837888"/>
            <a:ext cx="5106760" cy="923330"/>
          </a:xfrm>
          <a:prstGeom prst="rect">
            <a:avLst/>
          </a:prstGeom>
          <a:noFill/>
        </p:spPr>
        <p:txBody>
          <a:bodyPr rot="0" spcFirstLastPara="0" vertOverflow="overflow" horzOverflow="overflow" vert="horz" wrap="square" lIns="109728" tIns="54864" rIns="109728" bIns="54864" numCol="1" spcCol="0" rtlCol="0" fromWordArt="0" anchor="t" anchorCtr="0" forceAA="0" compatLnSpc="1">
            <a:prstTxWarp prst="textNoShape">
              <a:avLst/>
            </a:prstTxWarp>
            <a:spAutoFit/>
          </a:bodyPr>
          <a:lstStyle/>
          <a:p>
            <a:endParaRPr lang="en-US" sz="5280">
              <a:solidFill>
                <a:srgbClr val="ED7D31"/>
              </a:solidFill>
              <a:latin typeface="Calibri"/>
              <a:ea typeface="Calibri"/>
              <a:cs typeface="Calibri"/>
            </a:endParaRPr>
          </a:p>
        </p:txBody>
      </p:sp>
    </p:spTree>
    <p:extLst>
      <p:ext uri="{BB962C8B-B14F-4D97-AF65-F5344CB8AC3E}">
        <p14:creationId xmlns:p14="http://schemas.microsoft.com/office/powerpoint/2010/main" val="503324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1">
            <a:extLst>
              <a:ext uri="{FF2B5EF4-FFF2-40B4-BE49-F238E27FC236}">
                <a16:creationId xmlns:a16="http://schemas.microsoft.com/office/drawing/2014/main" id="{40D7831A-9C11-500C-9CD0-87C96E66730F}"/>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1731883"/>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Fraud Detection in Financial Transactions using Machine Learning</a:t>
            </a:r>
            <a:endParaRPr lang="en-US" sz="4450" dirty="0"/>
          </a:p>
        </p:txBody>
      </p:sp>
      <p:sp>
        <p:nvSpPr>
          <p:cNvPr id="4" name="Text 1"/>
          <p:cNvSpPr/>
          <p:nvPr/>
        </p:nvSpPr>
        <p:spPr>
          <a:xfrm>
            <a:off x="793790" y="4198382"/>
            <a:ext cx="7556421" cy="978218"/>
          </a:xfrm>
          <a:prstGeom prst="rect">
            <a:avLst/>
          </a:prstGeom>
          <a:noFill/>
          <a:ln/>
        </p:spPr>
        <p:txBody>
          <a:bodyPr wrap="none" lIns="0" tIns="0" rIns="0" bIns="0" rtlCol="0" anchor="t"/>
          <a:lstStyle/>
          <a:p>
            <a:pPr marL="0" indent="0" algn="l">
              <a:lnSpc>
                <a:spcPts val="7700"/>
              </a:lnSpc>
              <a:buNone/>
            </a:pPr>
            <a:r>
              <a:rPr lang="en-US" sz="6150" dirty="0">
                <a:solidFill>
                  <a:srgbClr val="091C53"/>
                </a:solidFill>
                <a:latin typeface="Instrument Sans Semi Bold" pitchFamily="34" charset="0"/>
                <a:ea typeface="Instrument Sans Semi Bold" pitchFamily="34" charset="-122"/>
                <a:cs typeface="Instrument Sans Semi Bold" pitchFamily="34" charset="-120"/>
              </a:rPr>
              <a:t>Capstone Project</a:t>
            </a:r>
            <a:endParaRPr lang="en-US" sz="6150" dirty="0"/>
          </a:p>
        </p:txBody>
      </p:sp>
      <p:sp>
        <p:nvSpPr>
          <p:cNvPr id="5" name="Text 2"/>
          <p:cNvSpPr/>
          <p:nvPr/>
        </p:nvSpPr>
        <p:spPr>
          <a:xfrm>
            <a:off x="793790" y="5516761"/>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by </a:t>
            </a:r>
            <a:r>
              <a:rPr lang="en-US" b="1" dirty="0">
                <a:solidFill>
                  <a:srgbClr val="1E3063"/>
                </a:solidFill>
                <a:latin typeface="Gill Sans MT" panose="020B0502020104020203" pitchFamily="34" charset="0"/>
                <a:ea typeface="Instrument Sans Medium" pitchFamily="34" charset="-122"/>
                <a:cs typeface="Instrument Sans Medium" pitchFamily="34" charset="-120"/>
              </a:rPr>
              <a:t>Shubham Adate</a:t>
            </a:r>
            <a:endParaRPr lang="en-US" b="1" dirty="0">
              <a:latin typeface="Gill Sans MT" panose="020B0502020104020203" pitchFamily="34" charset="0"/>
            </a:endParaRPr>
          </a:p>
        </p:txBody>
      </p:sp>
      <p:sp>
        <p:nvSpPr>
          <p:cNvPr id="6" name="Text 3"/>
          <p:cNvSpPr/>
          <p:nvPr/>
        </p:nvSpPr>
        <p:spPr>
          <a:xfrm>
            <a:off x="793789" y="6134814"/>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Academic Mentor: </a:t>
            </a:r>
            <a:r>
              <a:rPr lang="en-US" sz="1750" b="1" dirty="0">
                <a:solidFill>
                  <a:srgbClr val="1E3063"/>
                </a:solidFill>
                <a:latin typeface="Instrument Sans Medium" pitchFamily="34" charset="0"/>
                <a:ea typeface="Instrument Sans Medium" pitchFamily="34" charset="-122"/>
                <a:cs typeface="Instrument Sans Medium" pitchFamily="34" charset="-120"/>
              </a:rPr>
              <a:t>Sabastian </a:t>
            </a:r>
            <a:r>
              <a:rPr lang="en-US" sz="1750" b="1" dirty="0" err="1">
                <a:solidFill>
                  <a:srgbClr val="1E3063"/>
                </a:solidFill>
                <a:latin typeface="Instrument Sans Medium" pitchFamily="34" charset="0"/>
                <a:ea typeface="Instrument Sans Medium" pitchFamily="34" charset="-122"/>
                <a:cs typeface="Instrument Sans Medium" pitchFamily="34" charset="-120"/>
              </a:rPr>
              <a:t>Kharchan</a:t>
            </a:r>
            <a:r>
              <a:rPr lang="en-US" sz="1750" b="1" dirty="0">
                <a:solidFill>
                  <a:srgbClr val="1E3063"/>
                </a:solidFill>
                <a:latin typeface="Instrument Sans Medium" pitchFamily="34" charset="0"/>
                <a:ea typeface="Instrument Sans Medium" pitchFamily="34" charset="-122"/>
                <a:cs typeface="Instrument Sans Medium" pitchFamily="34" charset="-120"/>
              </a:rPr>
              <a:t> </a:t>
            </a:r>
            <a:endParaRPr lang="en-US" sz="1750" b="1" dirty="0"/>
          </a:p>
        </p:txBody>
      </p:sp>
      <p:grpSp>
        <p:nvGrpSpPr>
          <p:cNvPr id="7" name="Group 12">
            <a:extLst>
              <a:ext uri="{FF2B5EF4-FFF2-40B4-BE49-F238E27FC236}">
                <a16:creationId xmlns:a16="http://schemas.microsoft.com/office/drawing/2014/main" id="{87638CD7-ECC5-167F-C547-016E7B4154AE}"/>
              </a:ext>
            </a:extLst>
          </p:cNvPr>
          <p:cNvGrpSpPr>
            <a:grpSpLocks noChangeAspect="1"/>
          </p:cNvGrpSpPr>
          <p:nvPr/>
        </p:nvGrpSpPr>
        <p:grpSpPr>
          <a:xfrm>
            <a:off x="12680907" y="7603532"/>
            <a:ext cx="1848418" cy="502429"/>
            <a:chOff x="3727847" y="14289901"/>
            <a:chExt cx="4038726" cy="1097788"/>
          </a:xfrm>
        </p:grpSpPr>
        <p:sp>
          <p:nvSpPr>
            <p:cNvPr id="8" name="Freeform 13" descr="Top Ranked Data Science Institute, Classroom Plus Online Training | Boston  Institute of Analytics">
              <a:extLst>
                <a:ext uri="{FF2B5EF4-FFF2-40B4-BE49-F238E27FC236}">
                  <a16:creationId xmlns:a16="http://schemas.microsoft.com/office/drawing/2014/main" id="{1D9941F7-8797-1C7C-DFC8-59AD6BEA5E55}"/>
                </a:ext>
              </a:extLst>
            </p:cNvPr>
            <p:cNvSpPr/>
            <p:nvPr/>
          </p:nvSpPr>
          <p:spPr>
            <a:xfrm>
              <a:off x="3727847" y="14289901"/>
              <a:ext cx="4038726"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4"/>
              <a:stretch>
                <a:fillRect l="-4316" r="-3590" b="-4"/>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Detecting Fraud in Mobile Financial Transactions</a:t>
            </a:r>
            <a:endParaRPr lang="en-US" sz="4450" dirty="0"/>
          </a:p>
        </p:txBody>
      </p:sp>
      <p:sp>
        <p:nvSpPr>
          <p:cNvPr id="11" name="TextBox 11">
            <a:extLst>
              <a:ext uri="{FF2B5EF4-FFF2-40B4-BE49-F238E27FC236}">
                <a16:creationId xmlns:a16="http://schemas.microsoft.com/office/drawing/2014/main" id="{4425423F-E28E-73B1-7FEC-EB139BCA1E26}"/>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 machine learning approach to protecting digital payments and building trust in mobile financial ecosystems. This project tackles one of the most critical challenges in identifying fraudulent transactions before they cause irreversible financial damage.</a:t>
            </a:r>
            <a:endParaRPr lang="en-US" sz="1750" dirty="0"/>
          </a:p>
        </p:txBody>
      </p:sp>
      <p:pic>
        <p:nvPicPr>
          <p:cNvPr id="10" name="Picture 9">
            <a:extLst>
              <a:ext uri="{FF2B5EF4-FFF2-40B4-BE49-F238E27FC236}">
                <a16:creationId xmlns:a16="http://schemas.microsoft.com/office/drawing/2014/main" id="{AE449D07-4ED5-F30C-AAF2-98846B7ECA70}"/>
              </a:ext>
            </a:extLst>
          </p:cNvPr>
          <p:cNvPicPr>
            <a:picLocks noChangeAspect="1"/>
          </p:cNvPicPr>
          <p:nvPr/>
        </p:nvPicPr>
        <p:blipFill>
          <a:blip r:embed="rId3"/>
          <a:stretch>
            <a:fillRect/>
          </a:stretch>
        </p:blipFill>
        <p:spPr>
          <a:xfrm>
            <a:off x="8430322" y="0"/>
            <a:ext cx="6200078" cy="8229600"/>
          </a:xfrm>
          <a:prstGeom prst="rect">
            <a:avLst/>
          </a:prstGeom>
        </p:spPr>
      </p:pic>
      <p:grpSp>
        <p:nvGrpSpPr>
          <p:cNvPr id="5" name="Group 12">
            <a:extLst>
              <a:ext uri="{FF2B5EF4-FFF2-40B4-BE49-F238E27FC236}">
                <a16:creationId xmlns:a16="http://schemas.microsoft.com/office/drawing/2014/main" id="{D616D23F-808B-5A52-34C0-A124E6BD161B}"/>
              </a:ext>
            </a:extLst>
          </p:cNvPr>
          <p:cNvGrpSpPr>
            <a:grpSpLocks noChangeAspect="1"/>
          </p:cNvGrpSpPr>
          <p:nvPr/>
        </p:nvGrpSpPr>
        <p:grpSpPr>
          <a:xfrm>
            <a:off x="12422460" y="7654254"/>
            <a:ext cx="2116704" cy="575346"/>
            <a:chOff x="-9729459" y="0"/>
            <a:chExt cx="4038728" cy="1097788"/>
          </a:xfrm>
        </p:grpSpPr>
        <p:sp>
          <p:nvSpPr>
            <p:cNvPr id="6" name="Freeform 13" descr="Top Ranked Data Science Institute, Classroom Plus Online Training | Boston  Institute of Analytics">
              <a:extLst>
                <a:ext uri="{FF2B5EF4-FFF2-40B4-BE49-F238E27FC236}">
                  <a16:creationId xmlns:a16="http://schemas.microsoft.com/office/drawing/2014/main" id="{2838D857-9D58-035D-FAA2-B59E1493091F}"/>
                </a:ext>
              </a:extLst>
            </p:cNvPr>
            <p:cNvSpPr/>
            <p:nvPr/>
          </p:nvSpPr>
          <p:spPr>
            <a:xfrm>
              <a:off x="-9729459" y="0"/>
              <a:ext cx="4038728"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4"/>
              <a:stretch>
                <a:fillRect l="-4316" r="-3590" b="-4"/>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4" name="TextBox 11">
            <a:extLst>
              <a:ext uri="{FF2B5EF4-FFF2-40B4-BE49-F238E27FC236}">
                <a16:creationId xmlns:a16="http://schemas.microsoft.com/office/drawing/2014/main" id="{1768E72C-BDA3-F2B4-CF4D-579C205E58B2}"/>
              </a:ext>
            </a:extLst>
          </p:cNvPr>
          <p:cNvSpPr txBox="1"/>
          <p:nvPr/>
        </p:nvSpPr>
        <p:spPr>
          <a:xfrm>
            <a:off x="154833" y="7611913"/>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21162" y="679252"/>
            <a:ext cx="7701677" cy="1030129"/>
          </a:xfrm>
          <a:prstGeom prst="rect">
            <a:avLst/>
          </a:prstGeom>
          <a:noFill/>
          <a:ln/>
        </p:spPr>
        <p:txBody>
          <a:bodyPr wrap="square" lIns="0" tIns="0" rIns="0" bIns="0" rtlCol="0" anchor="t"/>
          <a:lstStyle/>
          <a:p>
            <a:pPr marL="0" indent="0" algn="l">
              <a:lnSpc>
                <a:spcPts val="4050"/>
              </a:lnSpc>
              <a:buNone/>
            </a:pPr>
            <a:r>
              <a:rPr lang="en-US" sz="3200" dirty="0">
                <a:solidFill>
                  <a:srgbClr val="091C53"/>
                </a:solidFill>
                <a:latin typeface="Instrument Sans Semi Bold" pitchFamily="34" charset="0"/>
                <a:ea typeface="Instrument Sans Semi Bold" pitchFamily="34" charset="-122"/>
                <a:cs typeface="Instrument Sans Semi Bold" pitchFamily="34" charset="-120"/>
              </a:rPr>
              <a:t>Project Overview: Combating Digital Payment Fraud</a:t>
            </a:r>
            <a:endParaRPr lang="en-US" sz="3200" dirty="0"/>
          </a:p>
        </p:txBody>
      </p:sp>
      <p:sp>
        <p:nvSpPr>
          <p:cNvPr id="4" name="Text 1"/>
          <p:cNvSpPr/>
          <p:nvPr/>
        </p:nvSpPr>
        <p:spPr>
          <a:xfrm>
            <a:off x="721162" y="2147054"/>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The Challenge</a:t>
            </a:r>
            <a:endParaRPr lang="en-US" sz="2000" dirty="0"/>
          </a:p>
        </p:txBody>
      </p:sp>
      <p:sp>
        <p:nvSpPr>
          <p:cNvPr id="5" name="Text 2"/>
          <p:cNvSpPr/>
          <p:nvPr/>
        </p:nvSpPr>
        <p:spPr>
          <a:xfrm>
            <a:off x="721162" y="2674858"/>
            <a:ext cx="3599497" cy="1978104"/>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Fraud in digital payments leads to massive financial losses and erodes consumer trust in mobile financial services. Our mission: build a robust ML system that identifies fraudulent activity in real-time.</a:t>
            </a:r>
            <a:endParaRPr lang="en-US" sz="1600" dirty="0"/>
          </a:p>
        </p:txBody>
      </p:sp>
      <p:sp>
        <p:nvSpPr>
          <p:cNvPr id="6" name="Text 3"/>
          <p:cNvSpPr/>
          <p:nvPr/>
        </p:nvSpPr>
        <p:spPr>
          <a:xfrm>
            <a:off x="721162" y="4858941"/>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Dataset Scope</a:t>
            </a:r>
            <a:endParaRPr lang="en-US" sz="2000" dirty="0"/>
          </a:p>
        </p:txBody>
      </p:sp>
      <p:sp>
        <p:nvSpPr>
          <p:cNvPr id="7" name="Text 4"/>
          <p:cNvSpPr/>
          <p:nvPr/>
        </p:nvSpPr>
        <p:spPr>
          <a:xfrm>
            <a:off x="721162" y="5386745"/>
            <a:ext cx="3599497" cy="1978104"/>
          </a:xfrm>
          <a:prstGeom prst="rect">
            <a:avLst/>
          </a:prstGeom>
          <a:noFill/>
          <a:ln/>
        </p:spPr>
        <p:txBody>
          <a:bodyPr wrap="square" lIns="0" tIns="0" rIns="0" bIns="0" rtlCol="0" anchor="t"/>
          <a:lstStyle/>
          <a:p>
            <a:pPr marL="0" indent="0" algn="l">
              <a:lnSpc>
                <a:spcPts val="255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11,142 transactions</a:t>
            </a:r>
            <a:r>
              <a:rPr lang="en-US" sz="1600" dirty="0">
                <a:solidFill>
                  <a:srgbClr val="1E3063"/>
                </a:solidFill>
                <a:latin typeface="Instrument Sans Medium" pitchFamily="34" charset="0"/>
                <a:ea typeface="Instrument Sans Medium" pitchFamily="34" charset="-122"/>
                <a:cs typeface="Instrument Sans Medium" pitchFamily="34" charset="-120"/>
              </a:rPr>
              <a:t> analyzed, including transaction type, amount, account balances, and fraud labels. Each record provides insights into legitimate versus fraudulent behavior patterns.</a:t>
            </a:r>
            <a:endParaRPr lang="en-US" sz="1600" dirty="0"/>
          </a:p>
        </p:txBody>
      </p:sp>
      <p:sp>
        <p:nvSpPr>
          <p:cNvPr id="8" name="Text 5"/>
          <p:cNvSpPr/>
          <p:nvPr/>
        </p:nvSpPr>
        <p:spPr>
          <a:xfrm>
            <a:off x="4830961" y="2147054"/>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Primary Goal</a:t>
            </a:r>
            <a:endParaRPr lang="en-US" sz="2000" dirty="0"/>
          </a:p>
        </p:txBody>
      </p:sp>
      <p:sp>
        <p:nvSpPr>
          <p:cNvPr id="9" name="Text 6"/>
          <p:cNvSpPr/>
          <p:nvPr/>
        </p:nvSpPr>
        <p:spPr>
          <a:xfrm>
            <a:off x="4830961" y="2674858"/>
            <a:ext cx="3599497" cy="1648420"/>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Minimize </a:t>
            </a:r>
            <a:r>
              <a:rPr lang="en-US" sz="1600" dirty="0">
                <a:solidFill>
                  <a:srgbClr val="FF5000"/>
                </a:solidFill>
                <a:latin typeface="Instrument Sans Medium" pitchFamily="34" charset="0"/>
                <a:ea typeface="Instrument Sans Medium" pitchFamily="34" charset="-122"/>
                <a:cs typeface="Instrument Sans Medium" pitchFamily="34" charset="-120"/>
              </a:rPr>
              <a:t>false negatives</a:t>
            </a:r>
            <a:r>
              <a:rPr lang="en-US" sz="1600" dirty="0">
                <a:solidFill>
                  <a:srgbClr val="1E3063"/>
                </a:solidFill>
                <a:latin typeface="Instrument Sans Medium" pitchFamily="34" charset="0"/>
                <a:ea typeface="Instrument Sans Medium" pitchFamily="34" charset="-122"/>
                <a:cs typeface="Instrument Sans Medium" pitchFamily="34" charset="-120"/>
              </a:rPr>
              <a:t> (missed fraud cases) while maintaining system efficiency. Every missed fraud represents direct financial loss and damaged trust.</a:t>
            </a:r>
            <a:endParaRPr lang="en-US" sz="1600" dirty="0"/>
          </a:p>
        </p:txBody>
      </p:sp>
      <p:sp>
        <p:nvSpPr>
          <p:cNvPr id="10" name="Text 7"/>
          <p:cNvSpPr/>
          <p:nvPr/>
        </p:nvSpPr>
        <p:spPr>
          <a:xfrm>
            <a:off x="4830961" y="4529257"/>
            <a:ext cx="2575560" cy="321826"/>
          </a:xfrm>
          <a:prstGeom prst="rect">
            <a:avLst/>
          </a:prstGeom>
          <a:noFill/>
          <a:ln/>
        </p:spPr>
        <p:txBody>
          <a:bodyPr wrap="none" lIns="0" tIns="0" rIns="0" bIns="0" rtlCol="0" anchor="t"/>
          <a:lstStyle/>
          <a:p>
            <a:pPr marL="0" indent="0" algn="l">
              <a:lnSpc>
                <a:spcPts val="25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Real-World Example</a:t>
            </a:r>
            <a:endParaRPr lang="en-US" sz="2000" dirty="0"/>
          </a:p>
        </p:txBody>
      </p:sp>
      <p:sp>
        <p:nvSpPr>
          <p:cNvPr id="11" name="Text 8"/>
          <p:cNvSpPr/>
          <p:nvPr/>
        </p:nvSpPr>
        <p:spPr>
          <a:xfrm>
            <a:off x="4830961" y="5057061"/>
            <a:ext cx="3599497" cy="1648420"/>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When a fraudster transfers </a:t>
            </a:r>
            <a:r>
              <a:rPr lang="en-US" sz="1600" b="1" dirty="0">
                <a:solidFill>
                  <a:srgbClr val="1E3063"/>
                </a:solidFill>
                <a:latin typeface="Instrument Sans Medium" pitchFamily="34" charset="0"/>
                <a:ea typeface="Instrument Sans Medium" pitchFamily="34" charset="-122"/>
                <a:cs typeface="Instrument Sans Medium" pitchFamily="34" charset="-120"/>
              </a:rPr>
              <a:t>₹1.2M</a:t>
            </a:r>
            <a:r>
              <a:rPr lang="en-US" sz="1600" dirty="0">
                <a:solidFill>
                  <a:srgbClr val="1E3063"/>
                </a:solidFill>
                <a:latin typeface="Instrument Sans Medium" pitchFamily="34" charset="0"/>
                <a:ea typeface="Instrument Sans Medium" pitchFamily="34" charset="-122"/>
                <a:cs typeface="Instrument Sans Medium" pitchFamily="34" charset="-120"/>
              </a:rPr>
              <a:t> and immediately cashes out, our model must flag this suspicious pattern instantly, preventing catastrophic losses before funds disappear.</a:t>
            </a:r>
            <a:endParaRPr lang="en-US" sz="1600" dirty="0"/>
          </a:p>
        </p:txBody>
      </p:sp>
      <p:grpSp>
        <p:nvGrpSpPr>
          <p:cNvPr id="12" name="Group 12">
            <a:extLst>
              <a:ext uri="{FF2B5EF4-FFF2-40B4-BE49-F238E27FC236}">
                <a16:creationId xmlns:a16="http://schemas.microsoft.com/office/drawing/2014/main" id="{3A10C394-04EB-FD63-411B-A1E8F59D8850}"/>
              </a:ext>
            </a:extLst>
          </p:cNvPr>
          <p:cNvGrpSpPr>
            <a:grpSpLocks noChangeAspect="1"/>
          </p:cNvGrpSpPr>
          <p:nvPr/>
        </p:nvGrpSpPr>
        <p:grpSpPr>
          <a:xfrm>
            <a:off x="12561068" y="7630071"/>
            <a:ext cx="1941672" cy="527805"/>
            <a:chOff x="0" y="0"/>
            <a:chExt cx="4038678" cy="1097834"/>
          </a:xfrm>
        </p:grpSpPr>
        <p:sp>
          <p:nvSpPr>
            <p:cNvPr id="13" name="Freeform 13" descr="Top Ranked Data Science Institute, Classroom Plus Online Training | Boston  Institute of Analytics">
              <a:extLst>
                <a:ext uri="{FF2B5EF4-FFF2-40B4-BE49-F238E27FC236}">
                  <a16:creationId xmlns:a16="http://schemas.microsoft.com/office/drawing/2014/main" id="{B1123E5C-1A8D-C050-044D-7558B0EFD9F1}"/>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4"/>
              <a:stretch>
                <a:fillRect l="-4316" r="-3590" b="-4"/>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03434"/>
            <a:ext cx="11060668" cy="566976"/>
          </a:xfrm>
          <a:prstGeom prst="rect">
            <a:avLst/>
          </a:prstGeom>
          <a:noFill/>
          <a:ln/>
        </p:spPr>
        <p:txBody>
          <a:bodyPr wrap="none" lIns="0" tIns="0" rIns="0" bIns="0" rtlCol="0" anchor="t"/>
          <a:lstStyle/>
          <a:p>
            <a:pPr marL="0" indent="0" algn="l">
              <a:lnSpc>
                <a:spcPts val="445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Problem Statement: The Fraud Detection Challenge</a:t>
            </a:r>
            <a:endParaRPr lang="en-US" sz="3550" dirty="0"/>
          </a:p>
        </p:txBody>
      </p:sp>
      <p:sp>
        <p:nvSpPr>
          <p:cNvPr id="3" name="Shape 1"/>
          <p:cNvSpPr/>
          <p:nvPr/>
        </p:nvSpPr>
        <p:spPr>
          <a:xfrm>
            <a:off x="793790" y="1824038"/>
            <a:ext cx="4196358" cy="4020145"/>
          </a:xfrm>
          <a:prstGeom prst="roundRect">
            <a:avLst>
              <a:gd name="adj" fmla="val 5078"/>
            </a:avLst>
          </a:prstGeom>
          <a:solidFill>
            <a:srgbClr val="CEE6FD"/>
          </a:solidFill>
          <a:ln/>
        </p:spPr>
      </p:sp>
      <p:sp>
        <p:nvSpPr>
          <p:cNvPr id="4" name="Shape 2"/>
          <p:cNvSpPr/>
          <p:nvPr/>
        </p:nvSpPr>
        <p:spPr>
          <a:xfrm>
            <a:off x="1020604" y="2050852"/>
            <a:ext cx="680442" cy="680442"/>
          </a:xfrm>
          <a:prstGeom prst="roundRect">
            <a:avLst>
              <a:gd name="adj" fmla="val 13436980"/>
            </a:avLst>
          </a:prstGeom>
          <a:solidFill>
            <a:srgbClr val="84C1FA"/>
          </a:solidFill>
          <a:ln/>
        </p:spPr>
      </p:sp>
      <p:pic>
        <p:nvPicPr>
          <p:cNvPr id="5" name="Image 0" descr="preencoded.png"/>
          <p:cNvPicPr>
            <a:picLocks noChangeAspect="1"/>
          </p:cNvPicPr>
          <p:nvPr/>
        </p:nvPicPr>
        <p:blipFill>
          <a:blip r:embed="rId3"/>
          <a:stretch>
            <a:fillRect/>
          </a:stretch>
        </p:blipFill>
        <p:spPr>
          <a:xfrm>
            <a:off x="1207770" y="2199680"/>
            <a:ext cx="306110" cy="382667"/>
          </a:xfrm>
          <a:prstGeom prst="rect">
            <a:avLst/>
          </a:prstGeom>
        </p:spPr>
      </p:pic>
      <p:sp>
        <p:nvSpPr>
          <p:cNvPr id="6" name="Text 3"/>
          <p:cNvSpPr/>
          <p:nvPr/>
        </p:nvSpPr>
        <p:spPr>
          <a:xfrm>
            <a:off x="1020604" y="2958108"/>
            <a:ext cx="3144083"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Severe Class Imbalance</a:t>
            </a:r>
            <a:endParaRPr lang="en-US" sz="2200" dirty="0"/>
          </a:p>
        </p:txBody>
      </p:sp>
      <p:sp>
        <p:nvSpPr>
          <p:cNvPr id="7" name="Text 4"/>
          <p:cNvSpPr/>
          <p:nvPr/>
        </p:nvSpPr>
        <p:spPr>
          <a:xfrm>
            <a:off x="1020604" y="3448526"/>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Fraudulent transactions represent a tiny fraction of all activity, making them incredibly difficult to detect without specialized techniques.</a:t>
            </a:r>
            <a:endParaRPr lang="en-US" sz="1750" dirty="0"/>
          </a:p>
        </p:txBody>
      </p:sp>
      <p:sp>
        <p:nvSpPr>
          <p:cNvPr id="8" name="Shape 5"/>
          <p:cNvSpPr/>
          <p:nvPr/>
        </p:nvSpPr>
        <p:spPr>
          <a:xfrm>
            <a:off x="5216962" y="1824038"/>
            <a:ext cx="4196358" cy="4020145"/>
          </a:xfrm>
          <a:prstGeom prst="roundRect">
            <a:avLst>
              <a:gd name="adj" fmla="val 5078"/>
            </a:avLst>
          </a:prstGeom>
          <a:solidFill>
            <a:srgbClr val="CEE6FD"/>
          </a:solidFill>
          <a:ln/>
        </p:spPr>
      </p:sp>
      <p:sp>
        <p:nvSpPr>
          <p:cNvPr id="9" name="Shape 6"/>
          <p:cNvSpPr/>
          <p:nvPr/>
        </p:nvSpPr>
        <p:spPr>
          <a:xfrm>
            <a:off x="5443776" y="2050852"/>
            <a:ext cx="680442" cy="680442"/>
          </a:xfrm>
          <a:prstGeom prst="roundRect">
            <a:avLst>
              <a:gd name="adj" fmla="val 13436980"/>
            </a:avLst>
          </a:prstGeom>
          <a:solidFill>
            <a:srgbClr val="84C1FA"/>
          </a:solidFill>
          <a:ln/>
        </p:spPr>
      </p:sp>
      <p:pic>
        <p:nvPicPr>
          <p:cNvPr id="10" name="Image 1" descr="preencoded.png"/>
          <p:cNvPicPr>
            <a:picLocks noChangeAspect="1"/>
          </p:cNvPicPr>
          <p:nvPr/>
        </p:nvPicPr>
        <p:blipFill>
          <a:blip r:embed="rId4"/>
          <a:stretch>
            <a:fillRect/>
          </a:stretch>
        </p:blipFill>
        <p:spPr>
          <a:xfrm>
            <a:off x="5630942" y="2199680"/>
            <a:ext cx="306110" cy="382667"/>
          </a:xfrm>
          <a:prstGeom prst="rect">
            <a:avLst/>
          </a:prstGeom>
        </p:spPr>
      </p:pic>
      <p:sp>
        <p:nvSpPr>
          <p:cNvPr id="11" name="Text 7"/>
          <p:cNvSpPr/>
          <p:nvPr/>
        </p:nvSpPr>
        <p:spPr>
          <a:xfrm>
            <a:off x="5443776" y="2958108"/>
            <a:ext cx="296096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Evolving Fraud Tactics</a:t>
            </a:r>
            <a:endParaRPr lang="en-US" sz="2200" dirty="0"/>
          </a:p>
        </p:txBody>
      </p:sp>
      <p:sp>
        <p:nvSpPr>
          <p:cNvPr id="12" name="Text 8"/>
          <p:cNvSpPr/>
          <p:nvPr/>
        </p:nvSpPr>
        <p:spPr>
          <a:xfrm>
            <a:off x="5443776" y="3448526"/>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Fraudsters continuously adapt their methods, creating new patterns that traditional rule-based systems cannot anticipate or catch.</a:t>
            </a:r>
            <a:endParaRPr lang="en-US" sz="1750" dirty="0"/>
          </a:p>
        </p:txBody>
      </p:sp>
      <p:sp>
        <p:nvSpPr>
          <p:cNvPr id="13" name="Shape 9"/>
          <p:cNvSpPr/>
          <p:nvPr/>
        </p:nvSpPr>
        <p:spPr>
          <a:xfrm>
            <a:off x="9640133" y="1824038"/>
            <a:ext cx="4196358" cy="4020145"/>
          </a:xfrm>
          <a:prstGeom prst="roundRect">
            <a:avLst>
              <a:gd name="adj" fmla="val 5078"/>
            </a:avLst>
          </a:prstGeom>
          <a:solidFill>
            <a:srgbClr val="CEE6FD"/>
          </a:solidFill>
          <a:ln/>
        </p:spPr>
      </p:sp>
      <p:sp>
        <p:nvSpPr>
          <p:cNvPr id="14" name="Shape 10"/>
          <p:cNvSpPr/>
          <p:nvPr/>
        </p:nvSpPr>
        <p:spPr>
          <a:xfrm>
            <a:off x="9866948" y="2050852"/>
            <a:ext cx="680442" cy="680442"/>
          </a:xfrm>
          <a:prstGeom prst="roundRect">
            <a:avLst>
              <a:gd name="adj" fmla="val 13436980"/>
            </a:avLst>
          </a:prstGeom>
          <a:solidFill>
            <a:srgbClr val="84C1FA"/>
          </a:solidFill>
          <a:ln/>
        </p:spPr>
      </p:sp>
      <p:pic>
        <p:nvPicPr>
          <p:cNvPr id="15" name="Image 2" descr="preencoded.png"/>
          <p:cNvPicPr>
            <a:picLocks noChangeAspect="1"/>
          </p:cNvPicPr>
          <p:nvPr/>
        </p:nvPicPr>
        <p:blipFill>
          <a:blip r:embed="rId5"/>
          <a:stretch>
            <a:fillRect/>
          </a:stretch>
        </p:blipFill>
        <p:spPr>
          <a:xfrm>
            <a:off x="10054114" y="2199680"/>
            <a:ext cx="306110" cy="382667"/>
          </a:xfrm>
          <a:prstGeom prst="rect">
            <a:avLst/>
          </a:prstGeom>
        </p:spPr>
      </p:pic>
      <p:sp>
        <p:nvSpPr>
          <p:cNvPr id="16" name="Text 11"/>
          <p:cNvSpPr/>
          <p:nvPr/>
        </p:nvSpPr>
        <p:spPr>
          <a:xfrm>
            <a:off x="9866948" y="2958108"/>
            <a:ext cx="3742730" cy="708660"/>
          </a:xfrm>
          <a:prstGeom prst="rect">
            <a:avLst/>
          </a:prstGeom>
          <a:noFill/>
          <a:ln/>
        </p:spPr>
        <p:txBody>
          <a:bodyPr wrap="squar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High-Value Fraud Concentration</a:t>
            </a:r>
            <a:endParaRPr lang="en-US" sz="2200" dirty="0"/>
          </a:p>
        </p:txBody>
      </p:sp>
      <p:sp>
        <p:nvSpPr>
          <p:cNvPr id="17" name="Text 12"/>
          <p:cNvSpPr/>
          <p:nvPr/>
        </p:nvSpPr>
        <p:spPr>
          <a:xfrm>
            <a:off x="9866948" y="3802856"/>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 small number of fraudulent cases involve extremely large sums, meaning each missed detection has devastating financial consequences.</a:t>
            </a:r>
            <a:endParaRPr lang="en-US" sz="1750" dirty="0"/>
          </a:p>
        </p:txBody>
      </p:sp>
      <p:sp>
        <p:nvSpPr>
          <p:cNvPr id="18" name="Shape 13"/>
          <p:cNvSpPr/>
          <p:nvPr/>
        </p:nvSpPr>
        <p:spPr>
          <a:xfrm>
            <a:off x="793790" y="6099334"/>
            <a:ext cx="13042821" cy="1326713"/>
          </a:xfrm>
          <a:prstGeom prst="roundRect">
            <a:avLst>
              <a:gd name="adj" fmla="val 15387"/>
            </a:avLst>
          </a:prstGeom>
          <a:solidFill>
            <a:srgbClr val="B5DAFC"/>
          </a:solidFill>
          <a:ln/>
        </p:spPr>
      </p:sp>
      <p:pic>
        <p:nvPicPr>
          <p:cNvPr id="19" name="Image 3" descr="preencoded.png"/>
          <p:cNvPicPr>
            <a:picLocks noChangeAspect="1"/>
          </p:cNvPicPr>
          <p:nvPr/>
        </p:nvPicPr>
        <p:blipFill>
          <a:blip r:embed="rId6"/>
          <a:stretch>
            <a:fillRect/>
          </a:stretch>
        </p:blipFill>
        <p:spPr>
          <a:xfrm>
            <a:off x="1020604" y="6443424"/>
            <a:ext cx="283488" cy="226814"/>
          </a:xfrm>
          <a:prstGeom prst="rect">
            <a:avLst/>
          </a:prstGeom>
        </p:spPr>
      </p:pic>
      <p:sp>
        <p:nvSpPr>
          <p:cNvPr id="20" name="Text 14"/>
          <p:cNvSpPr/>
          <p:nvPr/>
        </p:nvSpPr>
        <p:spPr>
          <a:xfrm>
            <a:off x="1530906" y="6382822"/>
            <a:ext cx="12078891" cy="725805"/>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Instrument Sans Medium" pitchFamily="34" charset="0"/>
                <a:ea typeface="Instrument Sans Medium" pitchFamily="34" charset="-122"/>
                <a:cs typeface="Instrument Sans Medium" pitchFamily="34" charset="-120"/>
              </a:rPr>
              <a:t>Critical Requirement:</a:t>
            </a:r>
            <a:r>
              <a:rPr lang="en-US" sz="1750" dirty="0">
                <a:solidFill>
                  <a:srgbClr val="000000"/>
                </a:solidFill>
                <a:latin typeface="Instrument Sans Medium" pitchFamily="34" charset="0"/>
                <a:ea typeface="Instrument Sans Medium" pitchFamily="34" charset="-122"/>
                <a:cs typeface="Instrument Sans Medium" pitchFamily="34" charset="-120"/>
              </a:rPr>
              <a:t> The system must achieve </a:t>
            </a:r>
            <a:r>
              <a:rPr lang="en-US" sz="1750" dirty="0">
                <a:solidFill>
                  <a:srgbClr val="0540AD"/>
                </a:solidFill>
                <a:latin typeface="Instrument Sans Medium" pitchFamily="34" charset="0"/>
                <a:ea typeface="Instrument Sans Medium" pitchFamily="34" charset="-122"/>
                <a:cs typeface="Instrument Sans Medium" pitchFamily="34" charset="-120"/>
              </a:rPr>
              <a:t>high recall</a:t>
            </a:r>
            <a:r>
              <a:rPr lang="en-US" sz="1750" dirty="0">
                <a:solidFill>
                  <a:srgbClr val="000000"/>
                </a:solidFill>
                <a:latin typeface="Instrument Sans Medium" pitchFamily="34" charset="0"/>
                <a:ea typeface="Instrument Sans Medium" pitchFamily="34" charset="-122"/>
                <a:cs typeface="Instrument Sans Medium" pitchFamily="34" charset="-120"/>
              </a:rPr>
              <a:t> to catch most fraud cases while keeping false alarms manageable to avoid disrupting legitimate customer transactions.</a:t>
            </a:r>
            <a:endParaRPr lang="en-US" sz="1750" dirty="0"/>
          </a:p>
        </p:txBody>
      </p:sp>
      <p:sp>
        <p:nvSpPr>
          <p:cNvPr id="21" name="TextBox 20">
            <a:extLst>
              <a:ext uri="{FF2B5EF4-FFF2-40B4-BE49-F238E27FC236}">
                <a16:creationId xmlns:a16="http://schemas.microsoft.com/office/drawing/2014/main" id="{A3729DDE-B48F-DB0B-FF67-88179A06990B}"/>
              </a:ext>
            </a:extLst>
          </p:cNvPr>
          <p:cNvSpPr txBox="1"/>
          <p:nvPr/>
        </p:nvSpPr>
        <p:spPr>
          <a:xfrm>
            <a:off x="12745844" y="7716644"/>
            <a:ext cx="1884556" cy="512956"/>
          </a:xfrm>
          <a:prstGeom prst="rect">
            <a:avLst/>
          </a:prstGeom>
          <a:solidFill>
            <a:schemeClr val="bg1"/>
          </a:solidFill>
        </p:spPr>
        <p:txBody>
          <a:bodyPr wrap="square" rtlCol="0">
            <a:spAutoFit/>
          </a:bodyPr>
          <a:lstStyle/>
          <a:p>
            <a:endParaRPr lang="en-IN" dirty="0"/>
          </a:p>
        </p:txBody>
      </p:sp>
      <p:grpSp>
        <p:nvGrpSpPr>
          <p:cNvPr id="22" name="Group 12">
            <a:extLst>
              <a:ext uri="{FF2B5EF4-FFF2-40B4-BE49-F238E27FC236}">
                <a16:creationId xmlns:a16="http://schemas.microsoft.com/office/drawing/2014/main" id="{CBA179E1-F587-C22F-BB90-61F69AE9CEA1}"/>
              </a:ext>
            </a:extLst>
          </p:cNvPr>
          <p:cNvGrpSpPr>
            <a:grpSpLocks noChangeAspect="1"/>
          </p:cNvGrpSpPr>
          <p:nvPr/>
        </p:nvGrpSpPr>
        <p:grpSpPr>
          <a:xfrm>
            <a:off x="12666155" y="7681198"/>
            <a:ext cx="1887046" cy="512956"/>
            <a:chOff x="0" y="0"/>
            <a:chExt cx="4038678" cy="1097834"/>
          </a:xfrm>
        </p:grpSpPr>
        <p:sp>
          <p:nvSpPr>
            <p:cNvPr id="23" name="Freeform 13" descr="Top Ranked Data Science Institute, Classroom Plus Online Training | Boston  Institute of Analytics">
              <a:extLst>
                <a:ext uri="{FF2B5EF4-FFF2-40B4-BE49-F238E27FC236}">
                  <a16:creationId xmlns:a16="http://schemas.microsoft.com/office/drawing/2014/main" id="{E52B01F5-366B-698A-B767-392CB8A301AD}"/>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7"/>
              <a:stretch>
                <a:fillRect l="-4316" r="-3590" b="-4"/>
              </a:stretch>
            </a:blipFill>
          </p:spPr>
        </p:sp>
      </p:grpSp>
      <p:sp>
        <p:nvSpPr>
          <p:cNvPr id="24" name="TextBox 11">
            <a:extLst>
              <a:ext uri="{FF2B5EF4-FFF2-40B4-BE49-F238E27FC236}">
                <a16:creationId xmlns:a16="http://schemas.microsoft.com/office/drawing/2014/main" id="{6E6C1EB9-9863-D1B5-CC46-A388D47D8C32}"/>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31081"/>
            <a:ext cx="9161859" cy="566976"/>
          </a:xfrm>
          <a:prstGeom prst="rect">
            <a:avLst/>
          </a:prstGeom>
          <a:noFill/>
          <a:ln/>
        </p:spPr>
        <p:txBody>
          <a:bodyPr wrap="none" lIns="0" tIns="0" rIns="0" bIns="0" rtlCol="0" anchor="t"/>
          <a:lstStyle/>
          <a:p>
            <a:pPr marL="0" indent="0" algn="l">
              <a:lnSpc>
                <a:spcPts val="445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Project Objectives: A Systematic Approach</a:t>
            </a:r>
            <a:endParaRPr lang="en-US" sz="3550" dirty="0"/>
          </a:p>
        </p:txBody>
      </p:sp>
      <p:sp>
        <p:nvSpPr>
          <p:cNvPr id="3" name="Text 1"/>
          <p:cNvSpPr/>
          <p:nvPr/>
        </p:nvSpPr>
        <p:spPr>
          <a:xfrm>
            <a:off x="793790"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01</a:t>
            </a:r>
            <a:endParaRPr lang="en-US" sz="1750" dirty="0"/>
          </a:p>
        </p:txBody>
      </p:sp>
      <p:sp>
        <p:nvSpPr>
          <p:cNvPr id="4" name="Shape 2"/>
          <p:cNvSpPr/>
          <p:nvPr/>
        </p:nvSpPr>
        <p:spPr>
          <a:xfrm>
            <a:off x="793790" y="2406729"/>
            <a:ext cx="4196358" cy="30480"/>
          </a:xfrm>
          <a:prstGeom prst="rect">
            <a:avLst/>
          </a:prstGeom>
          <a:solidFill>
            <a:srgbClr val="84C1FA"/>
          </a:solidFill>
          <a:ln/>
        </p:spPr>
      </p:sp>
      <p:sp>
        <p:nvSpPr>
          <p:cNvPr id="5" name="Text 3"/>
          <p:cNvSpPr/>
          <p:nvPr/>
        </p:nvSpPr>
        <p:spPr>
          <a:xfrm>
            <a:off x="793790" y="2581037"/>
            <a:ext cx="2932628"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Explore &amp; Understand</a:t>
            </a:r>
            <a:endParaRPr lang="en-US" sz="2200" dirty="0"/>
          </a:p>
        </p:txBody>
      </p:sp>
      <p:sp>
        <p:nvSpPr>
          <p:cNvPr id="6" name="Text 4"/>
          <p:cNvSpPr/>
          <p:nvPr/>
        </p:nvSpPr>
        <p:spPr>
          <a:xfrm>
            <a:off x="793790" y="3071455"/>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Conduct comprehensive exploratory data analysis to uncover fraud patterns, transaction behaviors, and key indicators of suspicious activity.</a:t>
            </a:r>
            <a:endParaRPr lang="en-US" sz="1750" dirty="0"/>
          </a:p>
        </p:txBody>
      </p:sp>
      <p:sp>
        <p:nvSpPr>
          <p:cNvPr id="7" name="Text 5"/>
          <p:cNvSpPr/>
          <p:nvPr/>
        </p:nvSpPr>
        <p:spPr>
          <a:xfrm>
            <a:off x="5216962"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02</a:t>
            </a:r>
            <a:endParaRPr lang="en-US" sz="1750" dirty="0"/>
          </a:p>
        </p:txBody>
      </p:sp>
      <p:sp>
        <p:nvSpPr>
          <p:cNvPr id="8" name="Shape 6"/>
          <p:cNvSpPr/>
          <p:nvPr/>
        </p:nvSpPr>
        <p:spPr>
          <a:xfrm>
            <a:off x="5216962" y="2406729"/>
            <a:ext cx="4196358" cy="30480"/>
          </a:xfrm>
          <a:prstGeom prst="rect">
            <a:avLst/>
          </a:prstGeom>
          <a:solidFill>
            <a:srgbClr val="84C1FA"/>
          </a:solidFill>
          <a:ln/>
        </p:spPr>
      </p:sp>
      <p:sp>
        <p:nvSpPr>
          <p:cNvPr id="9" name="Text 7"/>
          <p:cNvSpPr/>
          <p:nvPr/>
        </p:nvSpPr>
        <p:spPr>
          <a:xfrm>
            <a:off x="5216962" y="2581037"/>
            <a:ext cx="3051096"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Preprocess &amp; Engineer</a:t>
            </a:r>
            <a:endParaRPr lang="en-US" sz="2200" dirty="0"/>
          </a:p>
        </p:txBody>
      </p:sp>
      <p:sp>
        <p:nvSpPr>
          <p:cNvPr id="10" name="Text 8"/>
          <p:cNvSpPr/>
          <p:nvPr/>
        </p:nvSpPr>
        <p:spPr>
          <a:xfrm>
            <a:off x="5216962" y="3071455"/>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Apply feature engineering, encoding, scaling, and imbalance handling techniques to prepare data for optimal model performance.</a:t>
            </a:r>
            <a:endParaRPr lang="en-US" sz="1750" dirty="0"/>
          </a:p>
        </p:txBody>
      </p:sp>
      <p:sp>
        <p:nvSpPr>
          <p:cNvPr id="11" name="Text 9"/>
          <p:cNvSpPr/>
          <p:nvPr/>
        </p:nvSpPr>
        <p:spPr>
          <a:xfrm>
            <a:off x="9640133" y="2051685"/>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03</a:t>
            </a:r>
            <a:endParaRPr lang="en-US" sz="1750" dirty="0"/>
          </a:p>
        </p:txBody>
      </p:sp>
      <p:sp>
        <p:nvSpPr>
          <p:cNvPr id="12" name="Shape 10"/>
          <p:cNvSpPr/>
          <p:nvPr/>
        </p:nvSpPr>
        <p:spPr>
          <a:xfrm>
            <a:off x="9640133" y="2406729"/>
            <a:ext cx="4196358" cy="30480"/>
          </a:xfrm>
          <a:prstGeom prst="rect">
            <a:avLst/>
          </a:prstGeom>
          <a:solidFill>
            <a:srgbClr val="84C1FA"/>
          </a:solidFill>
          <a:ln/>
        </p:spPr>
      </p:sp>
      <p:sp>
        <p:nvSpPr>
          <p:cNvPr id="13" name="Text 11"/>
          <p:cNvSpPr/>
          <p:nvPr/>
        </p:nvSpPr>
        <p:spPr>
          <a:xfrm>
            <a:off x="9640133" y="258103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Model &amp; Train</a:t>
            </a:r>
            <a:endParaRPr lang="en-US" sz="2200" dirty="0"/>
          </a:p>
        </p:txBody>
      </p:sp>
      <p:sp>
        <p:nvSpPr>
          <p:cNvPr id="14" name="Text 12"/>
          <p:cNvSpPr/>
          <p:nvPr/>
        </p:nvSpPr>
        <p:spPr>
          <a:xfrm>
            <a:off x="9640133" y="3071455"/>
            <a:ext cx="4196358"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Evaluate multiple ML algorithms including Logistic Regression, SVM, Random Forest, and XGBoost to identify the best performer.</a:t>
            </a:r>
            <a:endParaRPr lang="en-US" sz="1750" dirty="0"/>
          </a:p>
        </p:txBody>
      </p:sp>
      <p:sp>
        <p:nvSpPr>
          <p:cNvPr id="15" name="Text 13"/>
          <p:cNvSpPr/>
          <p:nvPr/>
        </p:nvSpPr>
        <p:spPr>
          <a:xfrm>
            <a:off x="793790" y="491990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04</a:t>
            </a:r>
            <a:endParaRPr lang="en-US" sz="1750" dirty="0"/>
          </a:p>
        </p:txBody>
      </p:sp>
      <p:sp>
        <p:nvSpPr>
          <p:cNvPr id="16" name="Shape 14"/>
          <p:cNvSpPr/>
          <p:nvPr/>
        </p:nvSpPr>
        <p:spPr>
          <a:xfrm>
            <a:off x="793790" y="5274945"/>
            <a:ext cx="6407944" cy="30480"/>
          </a:xfrm>
          <a:prstGeom prst="rect">
            <a:avLst/>
          </a:prstGeom>
          <a:solidFill>
            <a:srgbClr val="84C1FA"/>
          </a:solidFill>
          <a:ln/>
        </p:spPr>
      </p:sp>
      <p:sp>
        <p:nvSpPr>
          <p:cNvPr id="17" name="Text 15"/>
          <p:cNvSpPr/>
          <p:nvPr/>
        </p:nvSpPr>
        <p:spPr>
          <a:xfrm>
            <a:off x="793790" y="544925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Evaluate &amp; Select</a:t>
            </a:r>
            <a:endParaRPr lang="en-US" sz="2200" dirty="0"/>
          </a:p>
        </p:txBody>
      </p:sp>
      <p:sp>
        <p:nvSpPr>
          <p:cNvPr id="18" name="Text 16"/>
          <p:cNvSpPr/>
          <p:nvPr/>
        </p:nvSpPr>
        <p:spPr>
          <a:xfrm>
            <a:off x="793790" y="5939671"/>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Compare models using Precision, Recall, F1-score, and AUC metrics, prioritizing fraud detection accuracy over false positives.</a:t>
            </a:r>
            <a:endParaRPr lang="en-US" sz="1750" dirty="0"/>
          </a:p>
        </p:txBody>
      </p:sp>
      <p:sp>
        <p:nvSpPr>
          <p:cNvPr id="19" name="Text 17"/>
          <p:cNvSpPr/>
          <p:nvPr/>
        </p:nvSpPr>
        <p:spPr>
          <a:xfrm>
            <a:off x="7428548" y="491990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E3063"/>
                </a:solidFill>
                <a:latin typeface="Instrument Sans Light" pitchFamily="34" charset="0"/>
                <a:ea typeface="Instrument Sans Light" pitchFamily="34" charset="-122"/>
                <a:cs typeface="Instrument Sans Light" pitchFamily="34" charset="-120"/>
              </a:rPr>
              <a:t>05</a:t>
            </a:r>
            <a:endParaRPr lang="en-US" sz="1750" dirty="0"/>
          </a:p>
        </p:txBody>
      </p:sp>
      <p:sp>
        <p:nvSpPr>
          <p:cNvPr id="20" name="Shape 18"/>
          <p:cNvSpPr/>
          <p:nvPr/>
        </p:nvSpPr>
        <p:spPr>
          <a:xfrm>
            <a:off x="7428548" y="5274945"/>
            <a:ext cx="6407944" cy="30480"/>
          </a:xfrm>
          <a:prstGeom prst="rect">
            <a:avLst/>
          </a:prstGeom>
          <a:solidFill>
            <a:srgbClr val="84C1FA"/>
          </a:solidFill>
          <a:ln/>
        </p:spPr>
      </p:sp>
      <p:sp>
        <p:nvSpPr>
          <p:cNvPr id="21" name="Text 19"/>
          <p:cNvSpPr/>
          <p:nvPr/>
        </p:nvSpPr>
        <p:spPr>
          <a:xfrm>
            <a:off x="7428548" y="5449252"/>
            <a:ext cx="3915132"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Insights &amp; Recommendations</a:t>
            </a:r>
            <a:endParaRPr lang="en-US" sz="2200" dirty="0"/>
          </a:p>
        </p:txBody>
      </p:sp>
      <p:sp>
        <p:nvSpPr>
          <p:cNvPr id="22" name="Text 20"/>
          <p:cNvSpPr/>
          <p:nvPr/>
        </p:nvSpPr>
        <p:spPr>
          <a:xfrm>
            <a:off x="7428548" y="5939671"/>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Interpret feature importance using SHAP analysis and quantify the financial impact of implementing the fraud detection system.</a:t>
            </a:r>
            <a:endParaRPr lang="en-US" sz="1750" dirty="0"/>
          </a:p>
        </p:txBody>
      </p:sp>
      <p:sp>
        <p:nvSpPr>
          <p:cNvPr id="23" name="TextBox 22">
            <a:extLst>
              <a:ext uri="{FF2B5EF4-FFF2-40B4-BE49-F238E27FC236}">
                <a16:creationId xmlns:a16="http://schemas.microsoft.com/office/drawing/2014/main" id="{DED70BD3-70FE-0F02-3AEB-1300FCA6FCA7}"/>
              </a:ext>
            </a:extLst>
          </p:cNvPr>
          <p:cNvSpPr txBox="1"/>
          <p:nvPr/>
        </p:nvSpPr>
        <p:spPr>
          <a:xfrm>
            <a:off x="12712390" y="7727795"/>
            <a:ext cx="1828800" cy="501805"/>
          </a:xfrm>
          <a:prstGeom prst="rect">
            <a:avLst/>
          </a:prstGeom>
          <a:solidFill>
            <a:schemeClr val="bg1"/>
          </a:solidFill>
        </p:spPr>
        <p:txBody>
          <a:bodyPr wrap="square" rtlCol="0">
            <a:spAutoFit/>
          </a:bodyPr>
          <a:lstStyle/>
          <a:p>
            <a:endParaRPr lang="en-IN" dirty="0"/>
          </a:p>
        </p:txBody>
      </p:sp>
      <p:grpSp>
        <p:nvGrpSpPr>
          <p:cNvPr id="24" name="Group 12">
            <a:extLst>
              <a:ext uri="{FF2B5EF4-FFF2-40B4-BE49-F238E27FC236}">
                <a16:creationId xmlns:a16="http://schemas.microsoft.com/office/drawing/2014/main" id="{6B7D4E63-8636-4078-F202-28A67C5CBCF5}"/>
              </a:ext>
            </a:extLst>
          </p:cNvPr>
          <p:cNvGrpSpPr>
            <a:grpSpLocks noChangeAspect="1"/>
          </p:cNvGrpSpPr>
          <p:nvPr/>
        </p:nvGrpSpPr>
        <p:grpSpPr>
          <a:xfrm>
            <a:off x="12085002" y="7489741"/>
            <a:ext cx="1751490" cy="476108"/>
            <a:chOff x="0" y="0"/>
            <a:chExt cx="4038678" cy="1097834"/>
          </a:xfrm>
        </p:grpSpPr>
        <p:sp>
          <p:nvSpPr>
            <p:cNvPr id="25" name="Freeform 13" descr="Top Ranked Data Science Institute, Classroom Plus Online Training | Boston  Institute of Analytics">
              <a:extLst>
                <a:ext uri="{FF2B5EF4-FFF2-40B4-BE49-F238E27FC236}">
                  <a16:creationId xmlns:a16="http://schemas.microsoft.com/office/drawing/2014/main" id="{76D3DAB2-89E4-C388-FB4E-2288BD559115}"/>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26" name="Text 0">
            <a:extLst>
              <a:ext uri="{FF2B5EF4-FFF2-40B4-BE49-F238E27FC236}">
                <a16:creationId xmlns:a16="http://schemas.microsoft.com/office/drawing/2014/main" id="{74EECC8F-8064-4733-C389-9D94A3E792E5}"/>
              </a:ext>
            </a:extLst>
          </p:cNvPr>
          <p:cNvSpPr/>
          <p:nvPr/>
        </p:nvSpPr>
        <p:spPr>
          <a:xfrm>
            <a:off x="793789" y="237291"/>
            <a:ext cx="9161859" cy="566976"/>
          </a:xfrm>
          <a:prstGeom prst="rect">
            <a:avLst/>
          </a:prstGeom>
          <a:noFill/>
          <a:ln/>
        </p:spPr>
        <p:txBody>
          <a:bodyPr wrap="none" lIns="0" tIns="0" rIns="0" bIns="0" rtlCol="0" anchor="t"/>
          <a:lstStyle/>
          <a:p>
            <a:pPr marL="0" indent="0" algn="l">
              <a:lnSpc>
                <a:spcPts val="4450"/>
              </a:lnSpc>
              <a:buNone/>
            </a:pPr>
            <a:r>
              <a:rPr lang="en-US" sz="3550" dirty="0">
                <a:solidFill>
                  <a:srgbClr val="091C53"/>
                </a:solidFill>
                <a:latin typeface="Instrument Sans Semi Bold" pitchFamily="34" charset="0"/>
              </a:rPr>
              <a:t>Agenda :</a:t>
            </a:r>
            <a:endParaRPr lang="en-US" sz="3550" dirty="0"/>
          </a:p>
        </p:txBody>
      </p:sp>
      <p:sp>
        <p:nvSpPr>
          <p:cNvPr id="27" name="TextBox 11">
            <a:extLst>
              <a:ext uri="{FF2B5EF4-FFF2-40B4-BE49-F238E27FC236}">
                <a16:creationId xmlns:a16="http://schemas.microsoft.com/office/drawing/2014/main" id="{9693D33D-2202-1266-8514-67F43B429355}"/>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92110" y="849630"/>
            <a:ext cx="9000292" cy="494348"/>
          </a:xfrm>
          <a:prstGeom prst="rect">
            <a:avLst/>
          </a:prstGeom>
          <a:noFill/>
          <a:ln/>
        </p:spPr>
        <p:txBody>
          <a:bodyPr wrap="none" lIns="0" tIns="0" rIns="0" bIns="0" rtlCol="0" anchor="t"/>
          <a:lstStyle/>
          <a:p>
            <a:pPr marL="0" indent="0" algn="l">
              <a:lnSpc>
                <a:spcPts val="3850"/>
              </a:lnSpc>
              <a:buNone/>
            </a:pPr>
            <a:r>
              <a:rPr lang="en-US" sz="3100" dirty="0">
                <a:solidFill>
                  <a:srgbClr val="091C53"/>
                </a:solidFill>
                <a:latin typeface="Instrument Sans Semi Bold" pitchFamily="34" charset="0"/>
                <a:ea typeface="Instrument Sans Semi Bold" pitchFamily="34" charset="-122"/>
                <a:cs typeface="Instrument Sans Semi Bold" pitchFamily="34" charset="-120"/>
              </a:rPr>
              <a:t>Key Data Insights: Understanding Fraud Patterns</a:t>
            </a:r>
            <a:endParaRPr lang="en-US" sz="3100" dirty="0"/>
          </a:p>
        </p:txBody>
      </p:sp>
      <p:sp>
        <p:nvSpPr>
          <p:cNvPr id="3" name="Shape 1"/>
          <p:cNvSpPr/>
          <p:nvPr/>
        </p:nvSpPr>
        <p:spPr>
          <a:xfrm>
            <a:off x="692110" y="1739384"/>
            <a:ext cx="444937" cy="444937"/>
          </a:xfrm>
          <a:prstGeom prst="roundRect">
            <a:avLst>
              <a:gd name="adj" fmla="val 40002"/>
            </a:avLst>
          </a:prstGeom>
          <a:solidFill>
            <a:srgbClr val="CEE6FD"/>
          </a:solidFill>
          <a:ln/>
        </p:spPr>
      </p:sp>
      <p:sp>
        <p:nvSpPr>
          <p:cNvPr id="4" name="Text 2"/>
          <p:cNvSpPr/>
          <p:nvPr/>
        </p:nvSpPr>
        <p:spPr>
          <a:xfrm>
            <a:off x="766227" y="1776413"/>
            <a:ext cx="296585" cy="370761"/>
          </a:xfrm>
          <a:prstGeom prst="rect">
            <a:avLst/>
          </a:prstGeom>
          <a:noFill/>
          <a:ln/>
        </p:spPr>
        <p:txBody>
          <a:bodyPr wrap="none" lIns="0" tIns="0" rIns="0" bIns="0" rtlCol="0" anchor="t"/>
          <a:lstStyle/>
          <a:p>
            <a:pPr marL="0" indent="0" algn="ctr">
              <a:lnSpc>
                <a:spcPts val="2300"/>
              </a:lnSpc>
              <a:buNone/>
            </a:pPr>
            <a:r>
              <a:rPr lang="en-US" sz="2300" dirty="0">
                <a:solidFill>
                  <a:srgbClr val="1E3063"/>
                </a:solidFill>
                <a:latin typeface="Instrument Sans Semi Bold" pitchFamily="34" charset="0"/>
                <a:ea typeface="Instrument Sans Semi Bold" pitchFamily="34" charset="-122"/>
                <a:cs typeface="Instrument Sans Semi Bold" pitchFamily="34" charset="-120"/>
              </a:rPr>
              <a:t>1</a:t>
            </a:r>
            <a:endParaRPr lang="en-US" sz="2300" dirty="0"/>
          </a:p>
        </p:txBody>
      </p:sp>
      <p:sp>
        <p:nvSpPr>
          <p:cNvPr id="5" name="Text 3"/>
          <p:cNvSpPr/>
          <p:nvPr/>
        </p:nvSpPr>
        <p:spPr>
          <a:xfrm>
            <a:off x="1334691" y="1807250"/>
            <a:ext cx="3242786" cy="308967"/>
          </a:xfrm>
          <a:prstGeom prst="rect">
            <a:avLst/>
          </a:prstGeom>
          <a:noFill/>
          <a:ln/>
        </p:spPr>
        <p:txBody>
          <a:bodyPr wrap="none" lIns="0" tIns="0" rIns="0" bIns="0" rtlCol="0" anchor="t"/>
          <a:lstStyle/>
          <a:p>
            <a:pPr marL="0" indent="0" algn="l">
              <a:lnSpc>
                <a:spcPts val="2400"/>
              </a:lnSpc>
              <a:buNone/>
            </a:pPr>
            <a:r>
              <a:rPr lang="en-US" sz="1900" dirty="0">
                <a:solidFill>
                  <a:srgbClr val="1E3063"/>
                </a:solidFill>
                <a:latin typeface="Instrument Sans Semi Bold" pitchFamily="34" charset="0"/>
                <a:ea typeface="Instrument Sans Semi Bold" pitchFamily="34" charset="-122"/>
                <a:cs typeface="Instrument Sans Semi Bold" pitchFamily="34" charset="-120"/>
              </a:rPr>
              <a:t>High-Value Transaction Risk</a:t>
            </a:r>
            <a:endParaRPr lang="en-US" sz="1900" dirty="0"/>
          </a:p>
        </p:txBody>
      </p:sp>
      <p:sp>
        <p:nvSpPr>
          <p:cNvPr id="6" name="Text 4"/>
          <p:cNvSpPr/>
          <p:nvPr/>
        </p:nvSpPr>
        <p:spPr>
          <a:xfrm>
            <a:off x="1334691" y="2234803"/>
            <a:ext cx="12603599" cy="316349"/>
          </a:xfrm>
          <a:prstGeom prst="rect">
            <a:avLst/>
          </a:prstGeom>
          <a:noFill/>
          <a:ln/>
        </p:spPr>
        <p:txBody>
          <a:bodyPr wrap="none" lIns="0" tIns="0" rIns="0" bIns="0" rtlCol="0" anchor="t"/>
          <a:lstStyle/>
          <a:p>
            <a:pPr marL="0" indent="0" algn="l">
              <a:lnSpc>
                <a:spcPts val="24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Fraudulent transactions average </a:t>
            </a:r>
            <a:r>
              <a:rPr lang="en-US" sz="1550" b="1" dirty="0">
                <a:solidFill>
                  <a:srgbClr val="1E3063"/>
                </a:solidFill>
                <a:latin typeface="Instrument Sans Medium" pitchFamily="34" charset="0"/>
                <a:ea typeface="Instrument Sans Medium" pitchFamily="34" charset="-122"/>
                <a:cs typeface="Instrument Sans Medium" pitchFamily="34" charset="-120"/>
              </a:rPr>
              <a:t>₹1.2M</a:t>
            </a:r>
            <a:r>
              <a:rPr lang="en-US" sz="1550" dirty="0">
                <a:solidFill>
                  <a:srgbClr val="1E3063"/>
                </a:solidFill>
                <a:latin typeface="Instrument Sans Medium" pitchFamily="34" charset="0"/>
                <a:ea typeface="Instrument Sans Medium" pitchFamily="34" charset="-122"/>
                <a:cs typeface="Instrument Sans Medium" pitchFamily="34" charset="-120"/>
              </a:rPr>
              <a:t>, significantly higher than legitimate transactions. Large amounts are a critical fraud indicator.</a:t>
            </a:r>
            <a:endParaRPr lang="en-US" sz="1550" dirty="0"/>
          </a:p>
        </p:txBody>
      </p:sp>
      <p:sp>
        <p:nvSpPr>
          <p:cNvPr id="7" name="Shape 5"/>
          <p:cNvSpPr/>
          <p:nvPr/>
        </p:nvSpPr>
        <p:spPr>
          <a:xfrm>
            <a:off x="692110" y="2946559"/>
            <a:ext cx="444937" cy="444937"/>
          </a:xfrm>
          <a:prstGeom prst="roundRect">
            <a:avLst>
              <a:gd name="adj" fmla="val 40002"/>
            </a:avLst>
          </a:prstGeom>
          <a:solidFill>
            <a:srgbClr val="CEE6FD"/>
          </a:solidFill>
          <a:ln/>
        </p:spPr>
      </p:sp>
      <p:sp>
        <p:nvSpPr>
          <p:cNvPr id="8" name="Text 6"/>
          <p:cNvSpPr/>
          <p:nvPr/>
        </p:nvSpPr>
        <p:spPr>
          <a:xfrm>
            <a:off x="766227" y="2983587"/>
            <a:ext cx="296585" cy="370761"/>
          </a:xfrm>
          <a:prstGeom prst="rect">
            <a:avLst/>
          </a:prstGeom>
          <a:noFill/>
          <a:ln/>
        </p:spPr>
        <p:txBody>
          <a:bodyPr wrap="none" lIns="0" tIns="0" rIns="0" bIns="0" rtlCol="0" anchor="t"/>
          <a:lstStyle/>
          <a:p>
            <a:pPr marL="0" indent="0" algn="ctr">
              <a:lnSpc>
                <a:spcPts val="2300"/>
              </a:lnSpc>
              <a:buNone/>
            </a:pPr>
            <a:r>
              <a:rPr lang="en-US" sz="2300" dirty="0">
                <a:solidFill>
                  <a:srgbClr val="1E3063"/>
                </a:solidFill>
                <a:latin typeface="Instrument Sans Semi Bold" pitchFamily="34" charset="0"/>
                <a:ea typeface="Instrument Sans Semi Bold" pitchFamily="34" charset="-122"/>
                <a:cs typeface="Instrument Sans Semi Bold" pitchFamily="34" charset="-120"/>
              </a:rPr>
              <a:t>2</a:t>
            </a:r>
            <a:endParaRPr lang="en-US" sz="2300" dirty="0"/>
          </a:p>
        </p:txBody>
      </p:sp>
      <p:sp>
        <p:nvSpPr>
          <p:cNvPr id="9" name="Text 7"/>
          <p:cNvSpPr/>
          <p:nvPr/>
        </p:nvSpPr>
        <p:spPr>
          <a:xfrm>
            <a:off x="1334691" y="3014424"/>
            <a:ext cx="3732848" cy="308967"/>
          </a:xfrm>
          <a:prstGeom prst="rect">
            <a:avLst/>
          </a:prstGeom>
          <a:noFill/>
          <a:ln/>
        </p:spPr>
        <p:txBody>
          <a:bodyPr wrap="none" lIns="0" tIns="0" rIns="0" bIns="0" rtlCol="0" anchor="t"/>
          <a:lstStyle/>
          <a:p>
            <a:pPr marL="0" indent="0" algn="l">
              <a:lnSpc>
                <a:spcPts val="2400"/>
              </a:lnSpc>
              <a:buNone/>
            </a:pPr>
            <a:r>
              <a:rPr lang="en-US" sz="1900" dirty="0">
                <a:solidFill>
                  <a:srgbClr val="1E3063"/>
                </a:solidFill>
                <a:latin typeface="Instrument Sans Semi Bold" pitchFamily="34" charset="0"/>
                <a:ea typeface="Instrument Sans Semi Bold" pitchFamily="34" charset="-122"/>
                <a:cs typeface="Instrument Sans Semi Bold" pitchFamily="34" charset="-120"/>
              </a:rPr>
              <a:t>Transaction Type Concentration</a:t>
            </a:r>
            <a:endParaRPr lang="en-US" sz="1900" dirty="0"/>
          </a:p>
        </p:txBody>
      </p:sp>
      <p:sp>
        <p:nvSpPr>
          <p:cNvPr id="10" name="Text 8"/>
          <p:cNvSpPr/>
          <p:nvPr/>
        </p:nvSpPr>
        <p:spPr>
          <a:xfrm>
            <a:off x="1334691" y="3441978"/>
            <a:ext cx="12603599" cy="316349"/>
          </a:xfrm>
          <a:prstGeom prst="rect">
            <a:avLst/>
          </a:prstGeom>
          <a:noFill/>
          <a:ln/>
        </p:spPr>
        <p:txBody>
          <a:bodyPr wrap="none" lIns="0" tIns="0" rIns="0" bIns="0" rtlCol="0" anchor="t"/>
          <a:lstStyle/>
          <a:p>
            <a:pPr marL="0" indent="0" algn="l">
              <a:lnSpc>
                <a:spcPts val="24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Fraud is heavily concentrated in </a:t>
            </a:r>
            <a:r>
              <a:rPr lang="en-US" sz="1550" dirty="0">
                <a:solidFill>
                  <a:srgbClr val="FF5000"/>
                </a:solidFill>
                <a:latin typeface="Instrument Sans Medium" pitchFamily="34" charset="0"/>
                <a:ea typeface="Instrument Sans Medium" pitchFamily="34" charset="-122"/>
                <a:cs typeface="Instrument Sans Medium" pitchFamily="34" charset="-120"/>
              </a:rPr>
              <a:t>CASH_OUT (30.9%)</a:t>
            </a:r>
            <a:r>
              <a:rPr lang="en-US" sz="1550" dirty="0">
                <a:solidFill>
                  <a:srgbClr val="1E3063"/>
                </a:solidFill>
                <a:latin typeface="Instrument Sans Medium" pitchFamily="34" charset="0"/>
                <a:ea typeface="Instrument Sans Medium" pitchFamily="34" charset="-122"/>
                <a:cs typeface="Instrument Sans Medium" pitchFamily="34" charset="-120"/>
              </a:rPr>
              <a:t> and </a:t>
            </a:r>
            <a:r>
              <a:rPr lang="en-US" sz="1550" dirty="0">
                <a:solidFill>
                  <a:srgbClr val="FF5000"/>
                </a:solidFill>
                <a:latin typeface="Instrument Sans Medium" pitchFamily="34" charset="0"/>
                <a:ea typeface="Instrument Sans Medium" pitchFamily="34" charset="-122"/>
                <a:cs typeface="Instrument Sans Medium" pitchFamily="34" charset="-120"/>
              </a:rPr>
              <a:t>TRANSFER (38.5%)</a:t>
            </a:r>
            <a:r>
              <a:rPr lang="en-US" sz="1550" dirty="0">
                <a:solidFill>
                  <a:srgbClr val="1E3063"/>
                </a:solidFill>
                <a:latin typeface="Instrument Sans Medium" pitchFamily="34" charset="0"/>
                <a:ea typeface="Instrument Sans Medium" pitchFamily="34" charset="-122"/>
                <a:cs typeface="Instrument Sans Medium" pitchFamily="34" charset="-120"/>
              </a:rPr>
              <a:t> transaction types, revealing clear attack vectors.</a:t>
            </a:r>
            <a:endParaRPr lang="en-US" sz="1550" dirty="0"/>
          </a:p>
        </p:txBody>
      </p:sp>
      <p:sp>
        <p:nvSpPr>
          <p:cNvPr id="11" name="Shape 9"/>
          <p:cNvSpPr/>
          <p:nvPr/>
        </p:nvSpPr>
        <p:spPr>
          <a:xfrm>
            <a:off x="692110" y="4153733"/>
            <a:ext cx="444937" cy="444937"/>
          </a:xfrm>
          <a:prstGeom prst="roundRect">
            <a:avLst>
              <a:gd name="adj" fmla="val 40002"/>
            </a:avLst>
          </a:prstGeom>
          <a:solidFill>
            <a:srgbClr val="CEE6FD"/>
          </a:solidFill>
          <a:ln/>
        </p:spPr>
      </p:sp>
      <p:sp>
        <p:nvSpPr>
          <p:cNvPr id="12" name="Text 10"/>
          <p:cNvSpPr/>
          <p:nvPr/>
        </p:nvSpPr>
        <p:spPr>
          <a:xfrm>
            <a:off x="766227" y="4190762"/>
            <a:ext cx="296585" cy="370761"/>
          </a:xfrm>
          <a:prstGeom prst="rect">
            <a:avLst/>
          </a:prstGeom>
          <a:noFill/>
          <a:ln/>
        </p:spPr>
        <p:txBody>
          <a:bodyPr wrap="none" lIns="0" tIns="0" rIns="0" bIns="0" rtlCol="0" anchor="t"/>
          <a:lstStyle/>
          <a:p>
            <a:pPr marL="0" indent="0" algn="ctr">
              <a:lnSpc>
                <a:spcPts val="2300"/>
              </a:lnSpc>
              <a:buNone/>
            </a:pPr>
            <a:r>
              <a:rPr lang="en-US" sz="2300" dirty="0">
                <a:solidFill>
                  <a:srgbClr val="1E3063"/>
                </a:solidFill>
                <a:latin typeface="Instrument Sans Semi Bold" pitchFamily="34" charset="0"/>
                <a:ea typeface="Instrument Sans Semi Bold" pitchFamily="34" charset="-122"/>
                <a:cs typeface="Instrument Sans Semi Bold" pitchFamily="34" charset="-120"/>
              </a:rPr>
              <a:t>3</a:t>
            </a:r>
            <a:endParaRPr lang="en-US" sz="2300" dirty="0"/>
          </a:p>
        </p:txBody>
      </p:sp>
      <p:sp>
        <p:nvSpPr>
          <p:cNvPr id="13" name="Text 11"/>
          <p:cNvSpPr/>
          <p:nvPr/>
        </p:nvSpPr>
        <p:spPr>
          <a:xfrm>
            <a:off x="1334691" y="4221599"/>
            <a:ext cx="3259336" cy="308967"/>
          </a:xfrm>
          <a:prstGeom prst="rect">
            <a:avLst/>
          </a:prstGeom>
          <a:noFill/>
          <a:ln/>
        </p:spPr>
        <p:txBody>
          <a:bodyPr wrap="none" lIns="0" tIns="0" rIns="0" bIns="0" rtlCol="0" anchor="t"/>
          <a:lstStyle/>
          <a:p>
            <a:pPr marL="0" indent="0" algn="l">
              <a:lnSpc>
                <a:spcPts val="2400"/>
              </a:lnSpc>
              <a:buNone/>
            </a:pPr>
            <a:r>
              <a:rPr lang="en-US" sz="1900" dirty="0">
                <a:solidFill>
                  <a:srgbClr val="1E3063"/>
                </a:solidFill>
                <a:latin typeface="Instrument Sans Semi Bold" pitchFamily="34" charset="0"/>
                <a:ea typeface="Instrument Sans Semi Bold" pitchFamily="34" charset="-122"/>
                <a:cs typeface="Instrument Sans Semi Bold" pitchFamily="34" charset="-120"/>
              </a:rPr>
              <a:t>Safe Transaction Categories</a:t>
            </a:r>
            <a:endParaRPr lang="en-US" sz="1900" dirty="0"/>
          </a:p>
        </p:txBody>
      </p:sp>
      <p:sp>
        <p:nvSpPr>
          <p:cNvPr id="14" name="Text 12"/>
          <p:cNvSpPr/>
          <p:nvPr/>
        </p:nvSpPr>
        <p:spPr>
          <a:xfrm>
            <a:off x="1334691" y="4649153"/>
            <a:ext cx="12603599" cy="316349"/>
          </a:xfrm>
          <a:prstGeom prst="rect">
            <a:avLst/>
          </a:prstGeom>
          <a:noFill/>
          <a:ln/>
        </p:spPr>
        <p:txBody>
          <a:bodyPr wrap="none" lIns="0" tIns="0" rIns="0" bIns="0" rtlCol="0" anchor="t"/>
          <a:lstStyle/>
          <a:p>
            <a:pPr marL="0" indent="0" algn="l">
              <a:lnSpc>
                <a:spcPts val="245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PAYMENT</a:t>
            </a:r>
            <a:r>
              <a:rPr lang="en-US" sz="1550" dirty="0">
                <a:solidFill>
                  <a:srgbClr val="1E3063"/>
                </a:solidFill>
                <a:latin typeface="Instrument Sans Medium" pitchFamily="34" charset="0"/>
                <a:ea typeface="Instrument Sans Medium" pitchFamily="34" charset="-122"/>
                <a:cs typeface="Instrument Sans Medium" pitchFamily="34" charset="-120"/>
              </a:rPr>
              <a:t> and </a:t>
            </a:r>
            <a:r>
              <a:rPr lang="en-US" sz="1550" b="1" dirty="0">
                <a:solidFill>
                  <a:srgbClr val="1E3063"/>
                </a:solidFill>
                <a:latin typeface="Instrument Sans Medium" pitchFamily="34" charset="0"/>
                <a:ea typeface="Instrument Sans Medium" pitchFamily="34" charset="-122"/>
                <a:cs typeface="Instrument Sans Medium" pitchFamily="34" charset="-120"/>
              </a:rPr>
              <a:t>DEBIT</a:t>
            </a:r>
            <a:r>
              <a:rPr lang="en-US" sz="1550" dirty="0">
                <a:solidFill>
                  <a:srgbClr val="1E3063"/>
                </a:solidFill>
                <a:latin typeface="Instrument Sans Medium" pitchFamily="34" charset="0"/>
                <a:ea typeface="Instrument Sans Medium" pitchFamily="34" charset="-122"/>
                <a:cs typeface="Instrument Sans Medium" pitchFamily="34" charset="-120"/>
              </a:rPr>
              <a:t> transactions showed zero fraud cases, suggesting these mechanisms have inherent protective characteristics.</a:t>
            </a:r>
            <a:endParaRPr lang="en-US" sz="1550" dirty="0"/>
          </a:p>
        </p:txBody>
      </p:sp>
      <p:sp>
        <p:nvSpPr>
          <p:cNvPr id="15" name="Shape 13"/>
          <p:cNvSpPr/>
          <p:nvPr/>
        </p:nvSpPr>
        <p:spPr>
          <a:xfrm>
            <a:off x="692110" y="5360908"/>
            <a:ext cx="444937" cy="444937"/>
          </a:xfrm>
          <a:prstGeom prst="roundRect">
            <a:avLst>
              <a:gd name="adj" fmla="val 40002"/>
            </a:avLst>
          </a:prstGeom>
          <a:solidFill>
            <a:srgbClr val="CEE6FD"/>
          </a:solidFill>
          <a:ln/>
        </p:spPr>
      </p:sp>
      <p:sp>
        <p:nvSpPr>
          <p:cNvPr id="16" name="Text 14"/>
          <p:cNvSpPr/>
          <p:nvPr/>
        </p:nvSpPr>
        <p:spPr>
          <a:xfrm>
            <a:off x="766227" y="5397937"/>
            <a:ext cx="296585" cy="370761"/>
          </a:xfrm>
          <a:prstGeom prst="rect">
            <a:avLst/>
          </a:prstGeom>
          <a:noFill/>
          <a:ln/>
        </p:spPr>
        <p:txBody>
          <a:bodyPr wrap="none" lIns="0" tIns="0" rIns="0" bIns="0" rtlCol="0" anchor="t"/>
          <a:lstStyle/>
          <a:p>
            <a:pPr marL="0" indent="0" algn="ctr">
              <a:lnSpc>
                <a:spcPts val="2300"/>
              </a:lnSpc>
              <a:buNone/>
            </a:pPr>
            <a:r>
              <a:rPr lang="en-US" sz="2300" dirty="0">
                <a:solidFill>
                  <a:srgbClr val="1E3063"/>
                </a:solidFill>
                <a:latin typeface="Instrument Sans Semi Bold" pitchFamily="34" charset="0"/>
                <a:ea typeface="Instrument Sans Semi Bold" pitchFamily="34" charset="-122"/>
                <a:cs typeface="Instrument Sans Semi Bold" pitchFamily="34" charset="-120"/>
              </a:rPr>
              <a:t>4</a:t>
            </a:r>
            <a:endParaRPr lang="en-US" sz="2300" dirty="0"/>
          </a:p>
        </p:txBody>
      </p:sp>
      <p:sp>
        <p:nvSpPr>
          <p:cNvPr id="17" name="Text 15"/>
          <p:cNvSpPr/>
          <p:nvPr/>
        </p:nvSpPr>
        <p:spPr>
          <a:xfrm>
            <a:off x="1334691" y="5428774"/>
            <a:ext cx="2891552" cy="308967"/>
          </a:xfrm>
          <a:prstGeom prst="rect">
            <a:avLst/>
          </a:prstGeom>
          <a:noFill/>
          <a:ln/>
        </p:spPr>
        <p:txBody>
          <a:bodyPr wrap="none" lIns="0" tIns="0" rIns="0" bIns="0" rtlCol="0" anchor="t"/>
          <a:lstStyle/>
          <a:p>
            <a:pPr marL="0" indent="0" algn="l">
              <a:lnSpc>
                <a:spcPts val="2400"/>
              </a:lnSpc>
              <a:buNone/>
            </a:pPr>
            <a:r>
              <a:rPr lang="en-US" sz="1900" dirty="0">
                <a:solidFill>
                  <a:srgbClr val="1E3063"/>
                </a:solidFill>
                <a:latin typeface="Instrument Sans Semi Bold" pitchFamily="34" charset="0"/>
                <a:ea typeface="Instrument Sans Semi Bold" pitchFamily="34" charset="-122"/>
                <a:cs typeface="Instrument Sans Semi Bold" pitchFamily="34" charset="-120"/>
              </a:rPr>
              <a:t>Balance Depletion Signal</a:t>
            </a:r>
            <a:endParaRPr lang="en-US" sz="1900" dirty="0"/>
          </a:p>
        </p:txBody>
      </p:sp>
      <p:sp>
        <p:nvSpPr>
          <p:cNvPr id="18" name="Text 16"/>
          <p:cNvSpPr/>
          <p:nvPr/>
        </p:nvSpPr>
        <p:spPr>
          <a:xfrm>
            <a:off x="1334691" y="5856327"/>
            <a:ext cx="12603599" cy="316349"/>
          </a:xfrm>
          <a:prstGeom prst="rect">
            <a:avLst/>
          </a:prstGeom>
          <a:noFill/>
          <a:ln/>
        </p:spPr>
        <p:txBody>
          <a:bodyPr wrap="none" lIns="0" tIns="0" rIns="0" bIns="0" rtlCol="0" anchor="t"/>
          <a:lstStyle/>
          <a:p>
            <a:pPr marL="0" indent="0" algn="l">
              <a:lnSpc>
                <a:spcPts val="24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Account balances drop drastically in fraud cases, providing a powerful signal for detection algorithms to leverage.</a:t>
            </a:r>
            <a:endParaRPr lang="en-US" sz="1550" dirty="0"/>
          </a:p>
        </p:txBody>
      </p:sp>
      <p:sp>
        <p:nvSpPr>
          <p:cNvPr id="19" name="Shape 17"/>
          <p:cNvSpPr/>
          <p:nvPr/>
        </p:nvSpPr>
        <p:spPr>
          <a:xfrm>
            <a:off x="692110" y="6568083"/>
            <a:ext cx="444937" cy="444937"/>
          </a:xfrm>
          <a:prstGeom prst="roundRect">
            <a:avLst>
              <a:gd name="adj" fmla="val 40002"/>
            </a:avLst>
          </a:prstGeom>
          <a:solidFill>
            <a:srgbClr val="CEE6FD"/>
          </a:solidFill>
          <a:ln/>
        </p:spPr>
      </p:sp>
      <p:sp>
        <p:nvSpPr>
          <p:cNvPr id="20" name="Text 18"/>
          <p:cNvSpPr/>
          <p:nvPr/>
        </p:nvSpPr>
        <p:spPr>
          <a:xfrm>
            <a:off x="766227" y="6605111"/>
            <a:ext cx="296585" cy="370761"/>
          </a:xfrm>
          <a:prstGeom prst="rect">
            <a:avLst/>
          </a:prstGeom>
          <a:noFill/>
          <a:ln/>
        </p:spPr>
        <p:txBody>
          <a:bodyPr wrap="none" lIns="0" tIns="0" rIns="0" bIns="0" rtlCol="0" anchor="t"/>
          <a:lstStyle/>
          <a:p>
            <a:pPr marL="0" indent="0" algn="ctr">
              <a:lnSpc>
                <a:spcPts val="2300"/>
              </a:lnSpc>
              <a:buNone/>
            </a:pPr>
            <a:r>
              <a:rPr lang="en-US" sz="2300" dirty="0">
                <a:solidFill>
                  <a:srgbClr val="1E3063"/>
                </a:solidFill>
                <a:latin typeface="Instrument Sans Semi Bold" pitchFamily="34" charset="0"/>
                <a:ea typeface="Instrument Sans Semi Bold" pitchFamily="34" charset="-122"/>
                <a:cs typeface="Instrument Sans Semi Bold" pitchFamily="34" charset="-120"/>
              </a:rPr>
              <a:t>5</a:t>
            </a:r>
            <a:endParaRPr lang="en-US" sz="2300" dirty="0"/>
          </a:p>
        </p:txBody>
      </p:sp>
      <p:sp>
        <p:nvSpPr>
          <p:cNvPr id="21" name="Text 19"/>
          <p:cNvSpPr/>
          <p:nvPr/>
        </p:nvSpPr>
        <p:spPr>
          <a:xfrm>
            <a:off x="1334691" y="6635948"/>
            <a:ext cx="2742486" cy="308967"/>
          </a:xfrm>
          <a:prstGeom prst="rect">
            <a:avLst/>
          </a:prstGeom>
          <a:noFill/>
          <a:ln/>
        </p:spPr>
        <p:txBody>
          <a:bodyPr wrap="none" lIns="0" tIns="0" rIns="0" bIns="0" rtlCol="0" anchor="t"/>
          <a:lstStyle/>
          <a:p>
            <a:pPr marL="0" indent="0" algn="l">
              <a:lnSpc>
                <a:spcPts val="2400"/>
              </a:lnSpc>
              <a:buNone/>
            </a:pPr>
            <a:r>
              <a:rPr lang="en-US" sz="1900" dirty="0">
                <a:solidFill>
                  <a:srgbClr val="1E3063"/>
                </a:solidFill>
                <a:latin typeface="Instrument Sans Semi Bold" pitchFamily="34" charset="0"/>
                <a:ea typeface="Instrument Sans Semi Bold" pitchFamily="34" charset="-122"/>
                <a:cs typeface="Instrument Sans Semi Bold" pitchFamily="34" charset="-120"/>
              </a:rPr>
              <a:t>Severe Class Imbalance</a:t>
            </a:r>
            <a:endParaRPr lang="en-US" sz="1900" dirty="0"/>
          </a:p>
        </p:txBody>
      </p:sp>
      <p:sp>
        <p:nvSpPr>
          <p:cNvPr id="22" name="Text 20"/>
          <p:cNvSpPr/>
          <p:nvPr/>
        </p:nvSpPr>
        <p:spPr>
          <a:xfrm>
            <a:off x="1334691" y="7063502"/>
            <a:ext cx="12603599" cy="316349"/>
          </a:xfrm>
          <a:prstGeom prst="rect">
            <a:avLst/>
          </a:prstGeom>
          <a:noFill/>
          <a:ln/>
        </p:spPr>
        <p:txBody>
          <a:bodyPr wrap="none" lIns="0" tIns="0" rIns="0" bIns="0" rtlCol="0" anchor="t"/>
          <a:lstStyle/>
          <a:p>
            <a:pPr marL="0" indent="0" algn="l">
              <a:lnSpc>
                <a:spcPts val="245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Only approximately </a:t>
            </a:r>
            <a:r>
              <a:rPr lang="en-US" sz="1550" b="1" dirty="0">
                <a:solidFill>
                  <a:srgbClr val="1E3063"/>
                </a:solidFill>
                <a:latin typeface="Instrument Sans Medium" pitchFamily="34" charset="0"/>
                <a:ea typeface="Instrument Sans Medium" pitchFamily="34" charset="-122"/>
                <a:cs typeface="Instrument Sans Medium" pitchFamily="34" charset="-120"/>
              </a:rPr>
              <a:t>10% of transactions</a:t>
            </a:r>
            <a:r>
              <a:rPr lang="en-US" sz="1550" dirty="0">
                <a:solidFill>
                  <a:srgbClr val="1E3063"/>
                </a:solidFill>
                <a:latin typeface="Instrument Sans Medium" pitchFamily="34" charset="0"/>
                <a:ea typeface="Instrument Sans Medium" pitchFamily="34" charset="-122"/>
                <a:cs typeface="Instrument Sans Medium" pitchFamily="34" charset="-120"/>
              </a:rPr>
              <a:t> are fraudulent, requiring specialized sampling techniques for effective model training.</a:t>
            </a:r>
            <a:endParaRPr lang="en-US" sz="1550" dirty="0"/>
          </a:p>
        </p:txBody>
      </p:sp>
      <p:sp>
        <p:nvSpPr>
          <p:cNvPr id="24" name="TextBox 23">
            <a:extLst>
              <a:ext uri="{FF2B5EF4-FFF2-40B4-BE49-F238E27FC236}">
                <a16:creationId xmlns:a16="http://schemas.microsoft.com/office/drawing/2014/main" id="{E6F4417A-59F6-6074-DAED-EFB98818AD31}"/>
              </a:ext>
            </a:extLst>
          </p:cNvPr>
          <p:cNvSpPr txBox="1"/>
          <p:nvPr/>
        </p:nvSpPr>
        <p:spPr>
          <a:xfrm>
            <a:off x="12634332" y="7761249"/>
            <a:ext cx="1996068" cy="369332"/>
          </a:xfrm>
          <a:prstGeom prst="rect">
            <a:avLst/>
          </a:prstGeom>
          <a:solidFill>
            <a:schemeClr val="bg1"/>
          </a:solidFill>
        </p:spPr>
        <p:txBody>
          <a:bodyPr wrap="square" rtlCol="0">
            <a:spAutoFit/>
          </a:bodyPr>
          <a:lstStyle/>
          <a:p>
            <a:endParaRPr lang="en-IN" dirty="0"/>
          </a:p>
        </p:txBody>
      </p:sp>
      <p:grpSp>
        <p:nvGrpSpPr>
          <p:cNvPr id="25" name="Group 12">
            <a:extLst>
              <a:ext uri="{FF2B5EF4-FFF2-40B4-BE49-F238E27FC236}">
                <a16:creationId xmlns:a16="http://schemas.microsoft.com/office/drawing/2014/main" id="{771A3593-0F1E-D4A9-D298-C30915F15A73}"/>
              </a:ext>
            </a:extLst>
          </p:cNvPr>
          <p:cNvGrpSpPr>
            <a:grpSpLocks noChangeAspect="1"/>
          </p:cNvGrpSpPr>
          <p:nvPr/>
        </p:nvGrpSpPr>
        <p:grpSpPr>
          <a:xfrm>
            <a:off x="12714084" y="7609415"/>
            <a:ext cx="1836563" cy="499233"/>
            <a:chOff x="0" y="0"/>
            <a:chExt cx="4038678" cy="1097834"/>
          </a:xfrm>
        </p:grpSpPr>
        <p:sp>
          <p:nvSpPr>
            <p:cNvPr id="26" name="Freeform 13" descr="Top Ranked Data Science Institute, Classroom Plus Online Training | Boston  Institute of Analytics">
              <a:extLst>
                <a:ext uri="{FF2B5EF4-FFF2-40B4-BE49-F238E27FC236}">
                  <a16:creationId xmlns:a16="http://schemas.microsoft.com/office/drawing/2014/main" id="{1673108D-3C2C-4F20-B71A-C786110095EC}"/>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23" name="TextBox 11">
            <a:extLst>
              <a:ext uri="{FF2B5EF4-FFF2-40B4-BE49-F238E27FC236}">
                <a16:creationId xmlns:a16="http://schemas.microsoft.com/office/drawing/2014/main" id="{EA0BB791-25E6-E889-46C3-F176ABA3729B}"/>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3566" y="173586"/>
            <a:ext cx="9318308" cy="566976"/>
          </a:xfrm>
          <a:prstGeom prst="rect">
            <a:avLst/>
          </a:prstGeom>
          <a:noFill/>
          <a:ln/>
        </p:spPr>
        <p:txBody>
          <a:bodyPr wrap="none" lIns="0" tIns="0" rIns="0" bIns="0" rtlCol="0" anchor="t"/>
          <a:lstStyle/>
          <a:p>
            <a:pPr marL="0" indent="0" algn="l">
              <a:lnSpc>
                <a:spcPts val="4450"/>
              </a:lnSpc>
              <a:buNone/>
            </a:pPr>
            <a:r>
              <a:rPr lang="en-US" sz="2800" dirty="0">
                <a:solidFill>
                  <a:srgbClr val="091C53"/>
                </a:solidFill>
                <a:latin typeface="Instrument Sans Semi Bold" pitchFamily="34" charset="0"/>
                <a:ea typeface="Instrument Sans Semi Bold" pitchFamily="34" charset="-122"/>
                <a:cs typeface="Instrument Sans Semi Bold" pitchFamily="34" charset="-120"/>
              </a:rPr>
              <a:t>Exploratory Data Analysis: Visualizing Fraud</a:t>
            </a:r>
            <a:endParaRPr lang="en-US" sz="2800" dirty="0"/>
          </a:p>
        </p:txBody>
      </p:sp>
      <p:sp>
        <p:nvSpPr>
          <p:cNvPr id="8" name="Text 5"/>
          <p:cNvSpPr/>
          <p:nvPr/>
        </p:nvSpPr>
        <p:spPr>
          <a:xfrm>
            <a:off x="169308" y="6995019"/>
            <a:ext cx="13234444" cy="1040587"/>
          </a:xfrm>
          <a:prstGeom prst="rect">
            <a:avLst/>
          </a:prstGeom>
          <a:noFill/>
          <a:ln/>
        </p:spPr>
        <p:txBody>
          <a:bodyPr wrap="square" lIns="0" tIns="0" rIns="0" bIns="0" rtlCol="0" anchor="t"/>
          <a:lstStyle/>
          <a:p>
            <a:pPr marL="0" indent="0" algn="l">
              <a:lnSpc>
                <a:spcPts val="285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Class distribution</a:t>
            </a:r>
            <a:r>
              <a:rPr lang="en-US" sz="1600" dirty="0">
                <a:solidFill>
                  <a:srgbClr val="1E3063"/>
                </a:solidFill>
                <a:latin typeface="Instrument Sans Medium" pitchFamily="34" charset="0"/>
                <a:ea typeface="Instrument Sans Medium" pitchFamily="34" charset="-122"/>
                <a:cs typeface="Instrument Sans Medium" pitchFamily="34" charset="-120"/>
              </a:rPr>
              <a:t> reveals the severe imbalance challenge: fraud cases are vastly outnumbered by legitimate transactions.</a:t>
            </a:r>
            <a:endParaRPr lang="en-US" sz="1600" dirty="0"/>
          </a:p>
        </p:txBody>
      </p:sp>
      <p:sp>
        <p:nvSpPr>
          <p:cNvPr id="9" name="Text 6"/>
          <p:cNvSpPr/>
          <p:nvPr/>
        </p:nvSpPr>
        <p:spPr>
          <a:xfrm>
            <a:off x="10545616" y="335231"/>
            <a:ext cx="3069003" cy="398352"/>
          </a:xfrm>
          <a:prstGeom prst="rect">
            <a:avLst/>
          </a:prstGeom>
          <a:noFill/>
          <a:ln/>
        </p:spPr>
        <p:txBody>
          <a:bodyPr wrap="none" lIns="0" tIns="0" rIns="0" bIns="0" rtlCol="0" anchor="t"/>
          <a:lstStyle/>
          <a:p>
            <a:pPr marL="0" indent="0" algn="l">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Critical EDA Findings</a:t>
            </a:r>
            <a:endParaRPr lang="en-US" sz="2200" dirty="0"/>
          </a:p>
        </p:txBody>
      </p:sp>
      <p:sp>
        <p:nvSpPr>
          <p:cNvPr id="13" name="Text 10"/>
          <p:cNvSpPr/>
          <p:nvPr/>
        </p:nvSpPr>
        <p:spPr>
          <a:xfrm>
            <a:off x="6919674" y="5300622"/>
            <a:ext cx="6924437"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4" name="TextBox 13">
            <a:extLst>
              <a:ext uri="{FF2B5EF4-FFF2-40B4-BE49-F238E27FC236}">
                <a16:creationId xmlns:a16="http://schemas.microsoft.com/office/drawing/2014/main" id="{6F085BB0-C133-EF9A-6CA4-69891E2D5590}"/>
              </a:ext>
            </a:extLst>
          </p:cNvPr>
          <p:cNvSpPr txBox="1"/>
          <p:nvPr/>
        </p:nvSpPr>
        <p:spPr>
          <a:xfrm>
            <a:off x="12768146" y="7503795"/>
            <a:ext cx="1862254" cy="725805"/>
          </a:xfrm>
          <a:prstGeom prst="rect">
            <a:avLst/>
          </a:prstGeom>
          <a:solidFill>
            <a:schemeClr val="bg1"/>
          </a:solidFill>
        </p:spPr>
        <p:txBody>
          <a:bodyPr wrap="square" rtlCol="0">
            <a:spAutoFit/>
          </a:bodyPr>
          <a:lstStyle/>
          <a:p>
            <a:endParaRPr lang="en-IN" dirty="0"/>
          </a:p>
        </p:txBody>
      </p:sp>
      <p:grpSp>
        <p:nvGrpSpPr>
          <p:cNvPr id="15" name="Group 12">
            <a:extLst>
              <a:ext uri="{FF2B5EF4-FFF2-40B4-BE49-F238E27FC236}">
                <a16:creationId xmlns:a16="http://schemas.microsoft.com/office/drawing/2014/main" id="{E7890EB8-AB59-A086-DD17-8B4F5019901B}"/>
              </a:ext>
            </a:extLst>
          </p:cNvPr>
          <p:cNvGrpSpPr>
            <a:grpSpLocks noChangeAspect="1"/>
          </p:cNvGrpSpPr>
          <p:nvPr/>
        </p:nvGrpSpPr>
        <p:grpSpPr>
          <a:xfrm>
            <a:off x="12768146" y="7636603"/>
            <a:ext cx="1692925" cy="460188"/>
            <a:chOff x="0" y="0"/>
            <a:chExt cx="4038678" cy="1097834"/>
          </a:xfrm>
        </p:grpSpPr>
        <p:sp>
          <p:nvSpPr>
            <p:cNvPr id="16" name="Freeform 13" descr="Top Ranked Data Science Institute, Classroom Plus Online Training | Boston  Institute of Analytics">
              <a:extLst>
                <a:ext uri="{FF2B5EF4-FFF2-40B4-BE49-F238E27FC236}">
                  <a16:creationId xmlns:a16="http://schemas.microsoft.com/office/drawing/2014/main" id="{3A867449-6C47-DC2C-2D07-7F524967E81D}"/>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17" name="TextBox 11">
            <a:extLst>
              <a:ext uri="{FF2B5EF4-FFF2-40B4-BE49-F238E27FC236}">
                <a16:creationId xmlns:a16="http://schemas.microsoft.com/office/drawing/2014/main" id="{138B1264-9253-84A9-83A4-88B682BEC432}"/>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pic>
        <p:nvPicPr>
          <p:cNvPr id="19" name="Picture 18">
            <a:extLst>
              <a:ext uri="{FF2B5EF4-FFF2-40B4-BE49-F238E27FC236}">
                <a16:creationId xmlns:a16="http://schemas.microsoft.com/office/drawing/2014/main" id="{C89E7A37-8C55-813B-D70E-0B579F69FEC9}"/>
              </a:ext>
            </a:extLst>
          </p:cNvPr>
          <p:cNvPicPr>
            <a:picLocks noChangeAspect="1"/>
          </p:cNvPicPr>
          <p:nvPr/>
        </p:nvPicPr>
        <p:blipFill>
          <a:blip r:embed="rId4"/>
          <a:stretch>
            <a:fillRect/>
          </a:stretch>
        </p:blipFill>
        <p:spPr>
          <a:xfrm>
            <a:off x="113566" y="1045160"/>
            <a:ext cx="6727748" cy="5656715"/>
          </a:xfrm>
          <a:prstGeom prst="rect">
            <a:avLst/>
          </a:prstGeom>
        </p:spPr>
      </p:pic>
      <p:sp>
        <p:nvSpPr>
          <p:cNvPr id="20" name="Text 5">
            <a:extLst>
              <a:ext uri="{FF2B5EF4-FFF2-40B4-BE49-F238E27FC236}">
                <a16:creationId xmlns:a16="http://schemas.microsoft.com/office/drawing/2014/main" id="{2BB909A7-861D-4159-BDE3-AA941FEE6233}"/>
              </a:ext>
            </a:extLst>
          </p:cNvPr>
          <p:cNvSpPr/>
          <p:nvPr/>
        </p:nvSpPr>
        <p:spPr>
          <a:xfrm>
            <a:off x="2083615" y="3237047"/>
            <a:ext cx="13234444" cy="1040587"/>
          </a:xfrm>
          <a:prstGeom prst="rect">
            <a:avLst/>
          </a:prstGeom>
          <a:noFill/>
          <a:ln/>
        </p:spPr>
        <p:txBody>
          <a:bodyPr wrap="square" lIns="0" tIns="0" rIns="0" bIns="0" rtlCol="0" anchor="t"/>
          <a:lstStyle/>
          <a:p>
            <a:pPr marL="0" indent="0" algn="l">
              <a:lnSpc>
                <a:spcPts val="2850"/>
              </a:lnSpc>
              <a:buNone/>
            </a:pPr>
            <a:endParaRPr lang="en-US" sz="1600" dirty="0"/>
          </a:p>
        </p:txBody>
      </p:sp>
      <p:sp>
        <p:nvSpPr>
          <p:cNvPr id="22" name="Shape 1">
            <a:extLst>
              <a:ext uri="{FF2B5EF4-FFF2-40B4-BE49-F238E27FC236}">
                <a16:creationId xmlns:a16="http://schemas.microsoft.com/office/drawing/2014/main" id="{31578853-9FC4-ECC0-401A-731174E45520}"/>
              </a:ext>
            </a:extLst>
          </p:cNvPr>
          <p:cNvSpPr/>
          <p:nvPr/>
        </p:nvSpPr>
        <p:spPr>
          <a:xfrm>
            <a:off x="7203688" y="1903316"/>
            <a:ext cx="7257404" cy="3590713"/>
          </a:xfrm>
          <a:prstGeom prst="roundRect">
            <a:avLst>
              <a:gd name="adj" fmla="val 5189"/>
            </a:avLst>
          </a:prstGeom>
          <a:solidFill>
            <a:srgbClr val="FFFFFF"/>
          </a:solidFill>
          <a:ln w="30480">
            <a:solidFill>
              <a:srgbClr val="B4CCE3"/>
            </a:solidFill>
            <a:prstDash val="solid"/>
          </a:ln>
        </p:spPr>
        <p:txBody>
          <a:bodyPr/>
          <a:lstStyle/>
          <a:p>
            <a:r>
              <a:rPr lang="en-US" sz="2000" dirty="0"/>
              <a:t>🔸 </a:t>
            </a:r>
            <a:r>
              <a:rPr lang="en-US" sz="2000" b="1" dirty="0"/>
              <a:t>Severe Class Imbalance</a:t>
            </a:r>
            <a:br>
              <a:rPr lang="en-US" sz="2000" dirty="0"/>
            </a:br>
            <a:r>
              <a:rPr lang="en-US" sz="2000" dirty="0"/>
              <a:t>    The dataset shows a </a:t>
            </a:r>
            <a:r>
              <a:rPr lang="en-US" sz="2000" b="1" dirty="0"/>
              <a:t>large dominance of non-fraudulent (0)</a:t>
            </a:r>
            <a:r>
              <a:rPr lang="en-US" sz="2000" dirty="0"/>
              <a:t> transactions compared to </a:t>
            </a:r>
            <a:r>
              <a:rPr lang="en-US" sz="2000" b="1" dirty="0"/>
              <a:t>fraudulent (1)</a:t>
            </a:r>
            <a:r>
              <a:rPr lang="en-US" sz="2000" dirty="0"/>
              <a:t> ones.</a:t>
            </a:r>
          </a:p>
          <a:p>
            <a:r>
              <a:rPr lang="en-US" sz="2000" dirty="0"/>
              <a:t>🔸 </a:t>
            </a:r>
            <a:r>
              <a:rPr lang="en-US" sz="2000" b="1" dirty="0"/>
              <a:t>Potential Data Bias</a:t>
            </a:r>
            <a:br>
              <a:rPr lang="en-US" sz="2000" dirty="0"/>
            </a:br>
            <a:r>
              <a:rPr lang="en-US" sz="2000" dirty="0"/>
              <a:t>    Because </a:t>
            </a:r>
            <a:r>
              <a:rPr lang="en-US" sz="2000" b="1" dirty="0"/>
              <a:t>fraudulent cases are extremely rare</a:t>
            </a:r>
            <a:r>
              <a:rPr lang="en-US" sz="2000" dirty="0"/>
              <a:t>, the model risks </a:t>
            </a:r>
            <a:r>
              <a:rPr lang="en-US" sz="2000" b="1" dirty="0"/>
              <a:t>overfitting to non-fraudulent behavior</a:t>
            </a:r>
            <a:r>
              <a:rPr lang="en-US" sz="2000" dirty="0"/>
              <a:t>, leading to </a:t>
            </a:r>
            <a:r>
              <a:rPr lang="en-US" sz="2000" b="1" dirty="0"/>
              <a:t>high accuracy but poor fraud detection</a:t>
            </a:r>
            <a:r>
              <a:rPr lang="en-US" sz="2000" dirty="0"/>
              <a:t>.</a:t>
            </a:r>
          </a:p>
          <a:p>
            <a:r>
              <a:rPr lang="en-US" sz="2000" dirty="0"/>
              <a:t>🔸 </a:t>
            </a:r>
            <a:r>
              <a:rPr lang="en-US" sz="2000" b="1" dirty="0"/>
              <a:t>Recommended Solutions</a:t>
            </a:r>
            <a:br>
              <a:rPr lang="en-US" sz="2000" dirty="0"/>
            </a:br>
            <a:r>
              <a:rPr lang="en-US" sz="2000" dirty="0"/>
              <a:t>    Apply techniques like </a:t>
            </a:r>
            <a:r>
              <a:rPr lang="en-US" sz="2000" b="1" dirty="0" err="1"/>
              <a:t>Undersampling</a:t>
            </a:r>
            <a:r>
              <a:rPr lang="en-US" sz="2000" dirty="0"/>
              <a:t>, </a:t>
            </a:r>
            <a:r>
              <a:rPr lang="en-US" sz="2000" b="1" dirty="0"/>
              <a:t>Oversampling (SMOTE)</a:t>
            </a:r>
            <a:r>
              <a:rPr lang="en-US" sz="2000" dirty="0"/>
              <a:t>, or </a:t>
            </a:r>
            <a:r>
              <a:rPr lang="en-US" sz="2000" b="1" dirty="0"/>
              <a:t>Class Weighting</a:t>
            </a:r>
            <a:r>
              <a:rPr lang="en-US" sz="2000" dirty="0"/>
              <a:t> to </a:t>
            </a:r>
            <a:r>
              <a:rPr lang="en-US" sz="2000" b="1" dirty="0"/>
              <a:t>balance the dataset</a:t>
            </a:r>
            <a:r>
              <a:rPr lang="en-US" sz="2000" dirty="0"/>
              <a:t> and </a:t>
            </a:r>
            <a:r>
              <a:rPr lang="en-US" sz="2000" b="1" dirty="0"/>
              <a:t>improve fraud detection performance</a:t>
            </a:r>
            <a:r>
              <a:rPr lang="en-US" sz="2000" dirty="0"/>
              <a:t>.</a:t>
            </a:r>
          </a:p>
          <a:p>
            <a:pPr>
              <a:lnSpc>
                <a:spcPts val="2850"/>
              </a:lnSpc>
            </a:pPr>
            <a:endParaRPr lang="en-US" sz="2000" dirty="0"/>
          </a:p>
          <a:p>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3A83-DF3E-700C-8858-057620F9EB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EFC46-D449-8162-10BC-750A62D9523E}"/>
              </a:ext>
            </a:extLst>
          </p:cNvPr>
          <p:cNvSpPr/>
          <p:nvPr/>
        </p:nvSpPr>
        <p:spPr>
          <a:xfrm>
            <a:off x="113566" y="173586"/>
            <a:ext cx="9318308" cy="566976"/>
          </a:xfrm>
          <a:prstGeom prst="rect">
            <a:avLst/>
          </a:prstGeom>
          <a:noFill/>
          <a:ln/>
        </p:spPr>
        <p:txBody>
          <a:bodyPr wrap="none" lIns="0" tIns="0" rIns="0" bIns="0" rtlCol="0" anchor="t"/>
          <a:lstStyle/>
          <a:p>
            <a:pPr marL="0" indent="0" algn="l">
              <a:lnSpc>
                <a:spcPts val="4450"/>
              </a:lnSpc>
              <a:buNone/>
            </a:pPr>
            <a:r>
              <a:rPr lang="en-US" sz="2800" dirty="0">
                <a:solidFill>
                  <a:srgbClr val="091C53"/>
                </a:solidFill>
                <a:latin typeface="Instrument Sans Semi Bold" pitchFamily="34" charset="0"/>
                <a:ea typeface="Instrument Sans Semi Bold" pitchFamily="34" charset="-122"/>
                <a:cs typeface="Instrument Sans Semi Bold" pitchFamily="34" charset="-120"/>
              </a:rPr>
              <a:t>Exploratory Data Analysis: Visualizing Fraud</a:t>
            </a:r>
            <a:endParaRPr lang="en-US" sz="2800" dirty="0"/>
          </a:p>
        </p:txBody>
      </p:sp>
      <p:sp>
        <p:nvSpPr>
          <p:cNvPr id="13" name="Text 10">
            <a:extLst>
              <a:ext uri="{FF2B5EF4-FFF2-40B4-BE49-F238E27FC236}">
                <a16:creationId xmlns:a16="http://schemas.microsoft.com/office/drawing/2014/main" id="{07466935-1982-D0E6-89B4-5D33DCB1BC86}"/>
              </a:ext>
            </a:extLst>
          </p:cNvPr>
          <p:cNvSpPr/>
          <p:nvPr/>
        </p:nvSpPr>
        <p:spPr>
          <a:xfrm>
            <a:off x="6919674" y="5289471"/>
            <a:ext cx="6924437"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4" name="TextBox 13">
            <a:extLst>
              <a:ext uri="{FF2B5EF4-FFF2-40B4-BE49-F238E27FC236}">
                <a16:creationId xmlns:a16="http://schemas.microsoft.com/office/drawing/2014/main" id="{34017B0E-F3C7-96DB-EB94-313188582E5D}"/>
              </a:ext>
            </a:extLst>
          </p:cNvPr>
          <p:cNvSpPr txBox="1"/>
          <p:nvPr/>
        </p:nvSpPr>
        <p:spPr>
          <a:xfrm>
            <a:off x="12768146" y="7503795"/>
            <a:ext cx="1862254" cy="725805"/>
          </a:xfrm>
          <a:prstGeom prst="rect">
            <a:avLst/>
          </a:prstGeom>
          <a:solidFill>
            <a:schemeClr val="bg1"/>
          </a:solidFill>
        </p:spPr>
        <p:txBody>
          <a:bodyPr wrap="square" rtlCol="0">
            <a:spAutoFit/>
          </a:bodyPr>
          <a:lstStyle/>
          <a:p>
            <a:endParaRPr lang="en-IN" dirty="0"/>
          </a:p>
        </p:txBody>
      </p:sp>
      <p:grpSp>
        <p:nvGrpSpPr>
          <p:cNvPr id="15" name="Group 12">
            <a:extLst>
              <a:ext uri="{FF2B5EF4-FFF2-40B4-BE49-F238E27FC236}">
                <a16:creationId xmlns:a16="http://schemas.microsoft.com/office/drawing/2014/main" id="{51400508-8D95-CA47-990D-1DB71875B451}"/>
              </a:ext>
            </a:extLst>
          </p:cNvPr>
          <p:cNvGrpSpPr>
            <a:grpSpLocks noChangeAspect="1"/>
          </p:cNvGrpSpPr>
          <p:nvPr/>
        </p:nvGrpSpPr>
        <p:grpSpPr>
          <a:xfrm>
            <a:off x="12768146" y="7636603"/>
            <a:ext cx="1692925" cy="460188"/>
            <a:chOff x="0" y="0"/>
            <a:chExt cx="4038678" cy="1097834"/>
          </a:xfrm>
        </p:grpSpPr>
        <p:sp>
          <p:nvSpPr>
            <p:cNvPr id="16" name="Freeform 13" descr="Top Ranked Data Science Institute, Classroom Plus Online Training | Boston  Institute of Analytics">
              <a:extLst>
                <a:ext uri="{FF2B5EF4-FFF2-40B4-BE49-F238E27FC236}">
                  <a16:creationId xmlns:a16="http://schemas.microsoft.com/office/drawing/2014/main" id="{82AEABE5-5B98-D5BB-9032-83947190014A}"/>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17" name="TextBox 11">
            <a:extLst>
              <a:ext uri="{FF2B5EF4-FFF2-40B4-BE49-F238E27FC236}">
                <a16:creationId xmlns:a16="http://schemas.microsoft.com/office/drawing/2014/main" id="{B9716680-6B4A-DB4E-7DFD-E003BA367675}"/>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pic>
        <p:nvPicPr>
          <p:cNvPr id="21" name="Picture 20">
            <a:extLst>
              <a:ext uri="{FF2B5EF4-FFF2-40B4-BE49-F238E27FC236}">
                <a16:creationId xmlns:a16="http://schemas.microsoft.com/office/drawing/2014/main" id="{0235AE44-04B7-8043-A9B6-BD5F9EE34E9C}"/>
              </a:ext>
            </a:extLst>
          </p:cNvPr>
          <p:cNvPicPr>
            <a:picLocks noChangeAspect="1"/>
          </p:cNvPicPr>
          <p:nvPr/>
        </p:nvPicPr>
        <p:blipFill>
          <a:blip r:embed="rId4"/>
          <a:stretch>
            <a:fillRect/>
          </a:stretch>
        </p:blipFill>
        <p:spPr>
          <a:xfrm>
            <a:off x="113566" y="1124193"/>
            <a:ext cx="7485130" cy="6379602"/>
          </a:xfrm>
          <a:prstGeom prst="rect">
            <a:avLst/>
          </a:prstGeom>
        </p:spPr>
      </p:pic>
      <p:sp>
        <p:nvSpPr>
          <p:cNvPr id="18" name="Shape 1">
            <a:extLst>
              <a:ext uri="{FF2B5EF4-FFF2-40B4-BE49-F238E27FC236}">
                <a16:creationId xmlns:a16="http://schemas.microsoft.com/office/drawing/2014/main" id="{B262B0AF-FBA6-B7AF-232C-144CA993A4B5}"/>
              </a:ext>
            </a:extLst>
          </p:cNvPr>
          <p:cNvSpPr/>
          <p:nvPr/>
        </p:nvSpPr>
        <p:spPr>
          <a:xfrm>
            <a:off x="8740913" y="1370133"/>
            <a:ext cx="4196358" cy="5330283"/>
          </a:xfrm>
          <a:prstGeom prst="roundRect">
            <a:avLst>
              <a:gd name="adj" fmla="val 5189"/>
            </a:avLst>
          </a:prstGeom>
          <a:solidFill>
            <a:srgbClr val="FFFFFF"/>
          </a:solidFill>
          <a:ln w="30480">
            <a:solidFill>
              <a:srgbClr val="B4CCE3"/>
            </a:solidFill>
            <a:prstDash val="solid"/>
          </a:ln>
        </p:spPr>
        <p:txBody>
          <a:bodyPr/>
          <a:lstStyle/>
          <a:p>
            <a:r>
              <a:rPr lang="en-US" b="1" dirty="0"/>
              <a:t>💡 INSIGHTS</a:t>
            </a:r>
          </a:p>
          <a:p>
            <a:r>
              <a:rPr lang="en-US" dirty="0"/>
              <a:t>🔹 </a:t>
            </a:r>
            <a:r>
              <a:rPr lang="en-US" b="1" dirty="0"/>
              <a:t>Transaction Steps</a:t>
            </a:r>
            <a:br>
              <a:rPr lang="en-US" dirty="0"/>
            </a:br>
            <a:r>
              <a:rPr lang="en-US" dirty="0"/>
              <a:t>Play a crucial role in identifying fraudulent behavior.</a:t>
            </a:r>
          </a:p>
          <a:p>
            <a:r>
              <a:rPr lang="en-US" dirty="0"/>
              <a:t>🔹 </a:t>
            </a:r>
            <a:r>
              <a:rPr lang="en-US" b="1" dirty="0"/>
              <a:t>Higher Transaction Amounts</a:t>
            </a:r>
            <a:br>
              <a:rPr lang="en-US" dirty="0"/>
            </a:br>
            <a:r>
              <a:rPr lang="en-US" dirty="0"/>
              <a:t>Tend to be riskier — </a:t>
            </a:r>
            <a:r>
              <a:rPr lang="en-US" b="1" dirty="0"/>
              <a:t>amount strongly correlates with fraud</a:t>
            </a:r>
            <a:r>
              <a:rPr lang="en-US" dirty="0"/>
              <a:t>.</a:t>
            </a:r>
          </a:p>
          <a:p>
            <a:r>
              <a:rPr lang="en-US" dirty="0"/>
              <a:t>🔹 </a:t>
            </a:r>
            <a:r>
              <a:rPr lang="en-US" b="1" dirty="0"/>
              <a:t>Transaction Type</a:t>
            </a:r>
            <a:br>
              <a:rPr lang="en-US" dirty="0"/>
            </a:br>
            <a:r>
              <a:rPr lang="en-US" b="1" dirty="0"/>
              <a:t>Transfers are more fraud-prone</a:t>
            </a:r>
            <a:r>
              <a:rPr lang="en-US" dirty="0"/>
              <a:t>, whereas </a:t>
            </a:r>
            <a:r>
              <a:rPr lang="en-US" b="1" dirty="0"/>
              <a:t>payments are generally safer</a:t>
            </a:r>
            <a:r>
              <a:rPr lang="en-US" dirty="0"/>
              <a:t>.</a:t>
            </a:r>
          </a:p>
          <a:p>
            <a:r>
              <a:rPr lang="en-US" dirty="0"/>
              <a:t>🔹 </a:t>
            </a:r>
            <a:r>
              <a:rPr lang="en-US" b="1" dirty="0"/>
              <a:t>Destination Balance Ratio</a:t>
            </a:r>
            <a:br>
              <a:rPr lang="en-US" dirty="0"/>
            </a:br>
            <a:r>
              <a:rPr lang="en-US" dirty="0"/>
              <a:t>Heavily influenced by large transactions, providing valuable indicators for fraud detection.</a:t>
            </a:r>
          </a:p>
          <a:p>
            <a:r>
              <a:rPr lang="en-US" dirty="0"/>
              <a:t>🔹 </a:t>
            </a:r>
            <a:r>
              <a:rPr lang="en-US" b="1" dirty="0"/>
              <a:t>Overall Insight</a:t>
            </a:r>
            <a:br>
              <a:rPr lang="en-US" dirty="0"/>
            </a:br>
            <a:r>
              <a:rPr lang="en-US" dirty="0"/>
              <a:t>These patterns and relationships can </a:t>
            </a:r>
            <a:r>
              <a:rPr lang="en-US" b="1" dirty="0"/>
              <a:t>refine fraud-detection models</a:t>
            </a:r>
            <a:r>
              <a:rPr lang="en-US" dirty="0"/>
              <a:t> and significantly </a:t>
            </a:r>
            <a:r>
              <a:rPr lang="en-US" b="1" dirty="0"/>
              <a:t>improve prediction accuracy</a:t>
            </a:r>
            <a:r>
              <a:rPr lang="en-US" dirty="0"/>
              <a:t>.</a:t>
            </a:r>
          </a:p>
          <a:p>
            <a:endParaRPr lang="en-IN" dirty="0"/>
          </a:p>
        </p:txBody>
      </p:sp>
    </p:spTree>
    <p:extLst>
      <p:ext uri="{BB962C8B-B14F-4D97-AF65-F5344CB8AC3E}">
        <p14:creationId xmlns:p14="http://schemas.microsoft.com/office/powerpoint/2010/main" val="671024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F0705-21BF-3F48-6E8F-F846519D34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518F141-6826-EBD7-63B0-BC8C8660A61F}"/>
              </a:ext>
            </a:extLst>
          </p:cNvPr>
          <p:cNvSpPr/>
          <p:nvPr/>
        </p:nvSpPr>
        <p:spPr>
          <a:xfrm>
            <a:off x="113566" y="-122663"/>
            <a:ext cx="5350532" cy="775625"/>
          </a:xfrm>
          <a:prstGeom prst="rect">
            <a:avLst/>
          </a:prstGeom>
          <a:noFill/>
          <a:ln/>
        </p:spPr>
        <p:txBody>
          <a:bodyPr wrap="none" lIns="0" tIns="0" rIns="0" bIns="0" rtlCol="0" anchor="t"/>
          <a:lstStyle/>
          <a:p>
            <a:pPr marL="0" indent="0" algn="l">
              <a:lnSpc>
                <a:spcPts val="445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Exploratory Data Analysis: Visualizing Fraud</a:t>
            </a:r>
            <a:endParaRPr lang="en-US" sz="2000" dirty="0"/>
          </a:p>
        </p:txBody>
      </p:sp>
      <p:sp>
        <p:nvSpPr>
          <p:cNvPr id="13" name="Text 10">
            <a:extLst>
              <a:ext uri="{FF2B5EF4-FFF2-40B4-BE49-F238E27FC236}">
                <a16:creationId xmlns:a16="http://schemas.microsoft.com/office/drawing/2014/main" id="{69362B17-FF8B-FE40-CC42-0C61058973FE}"/>
              </a:ext>
            </a:extLst>
          </p:cNvPr>
          <p:cNvSpPr/>
          <p:nvPr/>
        </p:nvSpPr>
        <p:spPr>
          <a:xfrm>
            <a:off x="6919674" y="5289471"/>
            <a:ext cx="6924437" cy="725805"/>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4" name="TextBox 13">
            <a:extLst>
              <a:ext uri="{FF2B5EF4-FFF2-40B4-BE49-F238E27FC236}">
                <a16:creationId xmlns:a16="http://schemas.microsoft.com/office/drawing/2014/main" id="{DEAA7638-1974-5E22-92D4-82A7BC8FCEFD}"/>
              </a:ext>
            </a:extLst>
          </p:cNvPr>
          <p:cNvSpPr txBox="1"/>
          <p:nvPr/>
        </p:nvSpPr>
        <p:spPr>
          <a:xfrm>
            <a:off x="12768146" y="7503795"/>
            <a:ext cx="1862254" cy="725805"/>
          </a:xfrm>
          <a:prstGeom prst="rect">
            <a:avLst/>
          </a:prstGeom>
          <a:solidFill>
            <a:schemeClr val="bg1"/>
          </a:solidFill>
        </p:spPr>
        <p:txBody>
          <a:bodyPr wrap="square" rtlCol="0">
            <a:spAutoFit/>
          </a:bodyPr>
          <a:lstStyle/>
          <a:p>
            <a:endParaRPr lang="en-IN" dirty="0"/>
          </a:p>
        </p:txBody>
      </p:sp>
      <p:grpSp>
        <p:nvGrpSpPr>
          <p:cNvPr id="15" name="Group 12">
            <a:extLst>
              <a:ext uri="{FF2B5EF4-FFF2-40B4-BE49-F238E27FC236}">
                <a16:creationId xmlns:a16="http://schemas.microsoft.com/office/drawing/2014/main" id="{81CA8CDD-CA45-428A-64C6-5C9F17FF46F4}"/>
              </a:ext>
            </a:extLst>
          </p:cNvPr>
          <p:cNvGrpSpPr>
            <a:grpSpLocks noChangeAspect="1"/>
          </p:cNvGrpSpPr>
          <p:nvPr/>
        </p:nvGrpSpPr>
        <p:grpSpPr>
          <a:xfrm>
            <a:off x="12768146" y="7636603"/>
            <a:ext cx="1692925" cy="460188"/>
            <a:chOff x="0" y="0"/>
            <a:chExt cx="4038678" cy="1097834"/>
          </a:xfrm>
        </p:grpSpPr>
        <p:sp>
          <p:nvSpPr>
            <p:cNvPr id="16" name="Freeform 13" descr="Top Ranked Data Science Institute, Classroom Plus Online Training | Boston  Institute of Analytics">
              <a:extLst>
                <a:ext uri="{FF2B5EF4-FFF2-40B4-BE49-F238E27FC236}">
                  <a16:creationId xmlns:a16="http://schemas.microsoft.com/office/drawing/2014/main" id="{8AAFF813-8128-B555-3060-B8C960459F17}"/>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17" name="TextBox 11">
            <a:extLst>
              <a:ext uri="{FF2B5EF4-FFF2-40B4-BE49-F238E27FC236}">
                <a16:creationId xmlns:a16="http://schemas.microsoft.com/office/drawing/2014/main" id="{8D13ECC3-87CA-31DB-8D69-200F37A87C55}"/>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pic>
        <p:nvPicPr>
          <p:cNvPr id="19" name="Picture 18">
            <a:extLst>
              <a:ext uri="{FF2B5EF4-FFF2-40B4-BE49-F238E27FC236}">
                <a16:creationId xmlns:a16="http://schemas.microsoft.com/office/drawing/2014/main" id="{332B4941-33E2-C210-B3C2-D6D154DD224C}"/>
              </a:ext>
            </a:extLst>
          </p:cNvPr>
          <p:cNvPicPr>
            <a:picLocks noChangeAspect="1"/>
          </p:cNvPicPr>
          <p:nvPr/>
        </p:nvPicPr>
        <p:blipFill>
          <a:blip r:embed="rId4"/>
          <a:stretch>
            <a:fillRect/>
          </a:stretch>
        </p:blipFill>
        <p:spPr>
          <a:xfrm>
            <a:off x="113565" y="446048"/>
            <a:ext cx="8918923" cy="3668751"/>
          </a:xfrm>
          <a:prstGeom prst="rect">
            <a:avLst/>
          </a:prstGeom>
        </p:spPr>
      </p:pic>
      <p:pic>
        <p:nvPicPr>
          <p:cNvPr id="23" name="Picture 22">
            <a:extLst>
              <a:ext uri="{FF2B5EF4-FFF2-40B4-BE49-F238E27FC236}">
                <a16:creationId xmlns:a16="http://schemas.microsoft.com/office/drawing/2014/main" id="{2E9EEA7C-D0BA-5B2E-3219-90B0EEEF35C8}"/>
              </a:ext>
            </a:extLst>
          </p:cNvPr>
          <p:cNvPicPr>
            <a:picLocks noChangeAspect="1"/>
          </p:cNvPicPr>
          <p:nvPr/>
        </p:nvPicPr>
        <p:blipFill>
          <a:blip r:embed="rId5"/>
          <a:stretch>
            <a:fillRect/>
          </a:stretch>
        </p:blipFill>
        <p:spPr>
          <a:xfrm>
            <a:off x="169308" y="4114799"/>
            <a:ext cx="6154909" cy="3521804"/>
          </a:xfrm>
          <a:prstGeom prst="rect">
            <a:avLst/>
          </a:prstGeom>
        </p:spPr>
      </p:pic>
      <p:sp>
        <p:nvSpPr>
          <p:cNvPr id="3" name="Shape 1">
            <a:extLst>
              <a:ext uri="{FF2B5EF4-FFF2-40B4-BE49-F238E27FC236}">
                <a16:creationId xmlns:a16="http://schemas.microsoft.com/office/drawing/2014/main" id="{6476B3BB-DD1C-58AE-9AA3-A4B165D3BBA6}"/>
              </a:ext>
            </a:extLst>
          </p:cNvPr>
          <p:cNvSpPr/>
          <p:nvPr/>
        </p:nvSpPr>
        <p:spPr>
          <a:xfrm>
            <a:off x="9166301" y="977321"/>
            <a:ext cx="5306115" cy="1962808"/>
          </a:xfrm>
          <a:prstGeom prst="roundRect">
            <a:avLst>
              <a:gd name="adj" fmla="val 5189"/>
            </a:avLst>
          </a:prstGeom>
          <a:solidFill>
            <a:srgbClr val="FFFFFF"/>
          </a:solidFill>
          <a:ln w="30480">
            <a:solidFill>
              <a:srgbClr val="B4CCE3"/>
            </a:solidFill>
            <a:prstDash val="solid"/>
          </a:ln>
        </p:spPr>
        <p:txBody>
          <a:bodyPr/>
          <a:lstStyle/>
          <a:p>
            <a:r>
              <a:rPr lang="en-US" sz="2000" b="1" dirty="0"/>
              <a:t>💡 INSIGHT</a:t>
            </a:r>
          </a:p>
          <a:p>
            <a:r>
              <a:rPr lang="en-US" sz="2000" dirty="0"/>
              <a:t>* The </a:t>
            </a:r>
            <a:r>
              <a:rPr lang="en-US" sz="2000" b="1" dirty="0"/>
              <a:t>right skew</a:t>
            </a:r>
            <a:r>
              <a:rPr lang="en-US" sz="2000" dirty="0"/>
              <a:t> is still present but </a:t>
            </a:r>
            <a:r>
              <a:rPr lang="en-US" sz="2000" b="1" dirty="0"/>
              <a:t>slightly reduced</a:t>
            </a:r>
            <a:r>
              <a:rPr lang="en-US" sz="2000" dirty="0"/>
              <a:t> after log transformation.</a:t>
            </a:r>
          </a:p>
          <a:p>
            <a:r>
              <a:rPr lang="en-US" sz="2000" dirty="0"/>
              <a:t>* The </a:t>
            </a:r>
            <a:r>
              <a:rPr lang="en-US" sz="2000" b="1" dirty="0"/>
              <a:t>distribution</a:t>
            </a:r>
            <a:r>
              <a:rPr lang="en-US" sz="2000" dirty="0"/>
              <a:t> is still highly </a:t>
            </a:r>
            <a:r>
              <a:rPr lang="en-US" sz="2000" b="1" dirty="0"/>
              <a:t>concentrated at lower values</a:t>
            </a:r>
            <a:r>
              <a:rPr lang="en-US" sz="2000" dirty="0"/>
              <a:t>.</a:t>
            </a:r>
          </a:p>
          <a:p>
            <a:r>
              <a:rPr lang="en-US" sz="2000" dirty="0"/>
              <a:t>* But </a:t>
            </a:r>
            <a:r>
              <a:rPr lang="en-US" sz="2000" b="1" dirty="0"/>
              <a:t>Ensemble models</a:t>
            </a:r>
            <a:r>
              <a:rPr lang="en-US" sz="2000" dirty="0"/>
              <a:t> can handle </a:t>
            </a:r>
            <a:r>
              <a:rPr lang="en-US" sz="2000" b="1" dirty="0"/>
              <a:t>skewness</a:t>
            </a:r>
            <a:r>
              <a:rPr lang="en-US" sz="2000" dirty="0"/>
              <a:t>.</a:t>
            </a:r>
          </a:p>
          <a:p>
            <a:endParaRPr lang="en-US" sz="2000" dirty="0"/>
          </a:p>
        </p:txBody>
      </p:sp>
      <p:sp>
        <p:nvSpPr>
          <p:cNvPr id="4" name="Shape 1">
            <a:extLst>
              <a:ext uri="{FF2B5EF4-FFF2-40B4-BE49-F238E27FC236}">
                <a16:creationId xmlns:a16="http://schemas.microsoft.com/office/drawing/2014/main" id="{92626B6A-E7F9-BB4D-FCF6-57B81EE893D2}"/>
              </a:ext>
            </a:extLst>
          </p:cNvPr>
          <p:cNvSpPr/>
          <p:nvPr/>
        </p:nvSpPr>
        <p:spPr>
          <a:xfrm>
            <a:off x="7016933" y="4388153"/>
            <a:ext cx="7306787" cy="2903303"/>
          </a:xfrm>
          <a:prstGeom prst="roundRect">
            <a:avLst>
              <a:gd name="adj" fmla="val 5189"/>
            </a:avLst>
          </a:prstGeom>
          <a:solidFill>
            <a:srgbClr val="FFFFFF"/>
          </a:solidFill>
          <a:ln w="30480">
            <a:solidFill>
              <a:srgbClr val="B4CCE3"/>
            </a:solidFill>
            <a:prstDash val="solid"/>
          </a:ln>
        </p:spPr>
        <p:txBody>
          <a:bodyPr/>
          <a:lstStyle/>
          <a:p>
            <a:r>
              <a:rPr lang="en-US" b="1" dirty="0"/>
              <a:t>Fraud is Persistent Across All Time Steps</a:t>
            </a:r>
          </a:p>
          <a:p>
            <a:r>
              <a:rPr lang="en-US" b="1" dirty="0"/>
              <a:t>* </a:t>
            </a:r>
            <a:r>
              <a:rPr lang="en-US" dirty="0"/>
              <a:t>Fraudulent transactions are </a:t>
            </a:r>
            <a:r>
              <a:rPr lang="en-US" b="1" dirty="0"/>
              <a:t>not confined to specific time steps</a:t>
            </a:r>
            <a:r>
              <a:rPr lang="en-US" dirty="0"/>
              <a:t> but </a:t>
            </a:r>
            <a:r>
              <a:rPr lang="en-US" b="1" dirty="0"/>
              <a:t>occur throughout the dataset</a:t>
            </a:r>
            <a:r>
              <a:rPr lang="en-US" dirty="0"/>
              <a:t>.</a:t>
            </a:r>
          </a:p>
          <a:p>
            <a:r>
              <a:rPr lang="en-US" dirty="0"/>
              <a:t>* This suggests that fraud is a </a:t>
            </a:r>
            <a:r>
              <a:rPr lang="en-US" b="1" dirty="0"/>
              <a:t>continuous risk</a:t>
            </a:r>
            <a:r>
              <a:rPr lang="en-US" dirty="0"/>
              <a:t>, rather than being </a:t>
            </a:r>
            <a:r>
              <a:rPr lang="en-US" b="1" dirty="0"/>
              <a:t>time-dependent</a:t>
            </a:r>
            <a:r>
              <a:rPr lang="en-US" dirty="0"/>
              <a:t>.</a:t>
            </a:r>
          </a:p>
          <a:p>
            <a:r>
              <a:rPr lang="en-US" b="1" dirty="0"/>
              <a:t>Sharp Increase in Fraud Rate at Early Steps</a:t>
            </a:r>
          </a:p>
          <a:p>
            <a:r>
              <a:rPr lang="en-US" dirty="0"/>
              <a:t>* Initially, the </a:t>
            </a:r>
            <a:r>
              <a:rPr lang="en-US" b="1" dirty="0"/>
              <a:t>fraud rate is low</a:t>
            </a:r>
            <a:r>
              <a:rPr lang="en-US" dirty="0"/>
              <a:t>, but after a certain step, it </a:t>
            </a:r>
            <a:r>
              <a:rPr lang="en-US" b="1" dirty="0"/>
              <a:t>sharply rises to nearly 100% and remains high</a:t>
            </a:r>
            <a:r>
              <a:rPr lang="en-US" dirty="0"/>
              <a:t>.</a:t>
            </a:r>
          </a:p>
          <a:p>
            <a:r>
              <a:rPr lang="en-US" dirty="0"/>
              <a:t>* This could indicate </a:t>
            </a:r>
            <a:r>
              <a:rPr lang="en-US" b="1" dirty="0"/>
              <a:t>a shift in fraud tactics</a:t>
            </a:r>
            <a:r>
              <a:rPr lang="en-US" dirty="0"/>
              <a:t>, </a:t>
            </a:r>
            <a:r>
              <a:rPr lang="en-US" b="1" dirty="0"/>
              <a:t>sampling bias</a:t>
            </a:r>
            <a:r>
              <a:rPr lang="en-US" dirty="0"/>
              <a:t>, or </a:t>
            </a:r>
            <a:r>
              <a:rPr lang="en-US" b="1" dirty="0"/>
              <a:t>missing legitimate transactions</a:t>
            </a:r>
            <a:r>
              <a:rPr lang="en-US" dirty="0"/>
              <a:t> in later steps.</a:t>
            </a:r>
          </a:p>
        </p:txBody>
      </p:sp>
    </p:spTree>
    <p:extLst>
      <p:ext uri="{BB962C8B-B14F-4D97-AF65-F5344CB8AC3E}">
        <p14:creationId xmlns:p14="http://schemas.microsoft.com/office/powerpoint/2010/main" val="889852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52964"/>
            <a:ext cx="7961471" cy="566976"/>
          </a:xfrm>
          <a:prstGeom prst="rect">
            <a:avLst/>
          </a:prstGeom>
          <a:noFill/>
          <a:ln/>
        </p:spPr>
        <p:txBody>
          <a:bodyPr wrap="none" lIns="0" tIns="0" rIns="0" bIns="0" rtlCol="0" anchor="t"/>
          <a:lstStyle/>
          <a:p>
            <a:pPr marL="0" indent="0" algn="l">
              <a:lnSpc>
                <a:spcPts val="445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Preprocessing &amp; Feature Engineering</a:t>
            </a:r>
            <a:endParaRPr lang="en-US" sz="3550" dirty="0"/>
          </a:p>
        </p:txBody>
      </p:sp>
      <p:sp>
        <p:nvSpPr>
          <p:cNvPr id="3" name="Shape 1"/>
          <p:cNvSpPr/>
          <p:nvPr/>
        </p:nvSpPr>
        <p:spPr>
          <a:xfrm>
            <a:off x="793790" y="1873568"/>
            <a:ext cx="4196358" cy="2819519"/>
          </a:xfrm>
          <a:prstGeom prst="roundRect">
            <a:avLst>
              <a:gd name="adj" fmla="val 5189"/>
            </a:avLst>
          </a:prstGeom>
          <a:solidFill>
            <a:srgbClr val="FFFFFF"/>
          </a:solidFill>
          <a:ln w="30480">
            <a:solidFill>
              <a:srgbClr val="B4CCE3"/>
            </a:solidFill>
            <a:prstDash val="solid"/>
          </a:ln>
        </p:spPr>
      </p:sp>
      <p:sp>
        <p:nvSpPr>
          <p:cNvPr id="4" name="Shape 2"/>
          <p:cNvSpPr/>
          <p:nvPr/>
        </p:nvSpPr>
        <p:spPr>
          <a:xfrm>
            <a:off x="763310" y="1873568"/>
            <a:ext cx="121920" cy="2819519"/>
          </a:xfrm>
          <a:prstGeom prst="roundRect">
            <a:avLst>
              <a:gd name="adj" fmla="val 167442"/>
            </a:avLst>
          </a:prstGeom>
          <a:solidFill>
            <a:srgbClr val="84C1FA"/>
          </a:solidFill>
          <a:ln/>
        </p:spPr>
      </p:sp>
      <p:sp>
        <p:nvSpPr>
          <p:cNvPr id="5" name="Text 3"/>
          <p:cNvSpPr/>
          <p:nvPr/>
        </p:nvSpPr>
        <p:spPr>
          <a:xfrm>
            <a:off x="1142524" y="2130862"/>
            <a:ext cx="3041213"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Ratio Features Created</a:t>
            </a:r>
            <a:endParaRPr lang="en-US" sz="2200" dirty="0"/>
          </a:p>
        </p:txBody>
      </p:sp>
      <p:sp>
        <p:nvSpPr>
          <p:cNvPr id="6" name="Text 4"/>
          <p:cNvSpPr/>
          <p:nvPr/>
        </p:nvSpPr>
        <p:spPr>
          <a:xfrm>
            <a:off x="1142524" y="2621280"/>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Engineered </a:t>
            </a:r>
            <a:r>
              <a:rPr lang="en-US" sz="1750" b="1" dirty="0">
                <a:solidFill>
                  <a:srgbClr val="1E3063"/>
                </a:solidFill>
                <a:latin typeface="Instrument Sans Medium" pitchFamily="34" charset="0"/>
                <a:ea typeface="Instrument Sans Medium" pitchFamily="34" charset="-122"/>
                <a:cs typeface="Instrument Sans Medium" pitchFamily="34" charset="-120"/>
              </a:rPr>
              <a:t>amount-to-balance ratios</a:t>
            </a:r>
            <a:r>
              <a:rPr lang="en-US" sz="1750" dirty="0">
                <a:solidFill>
                  <a:srgbClr val="1E3063"/>
                </a:solidFill>
                <a:latin typeface="Instrument Sans Medium" pitchFamily="34" charset="0"/>
                <a:ea typeface="Instrument Sans Medium" pitchFamily="34" charset="-122"/>
                <a:cs typeface="Instrument Sans Medium" pitchFamily="34" charset="-120"/>
              </a:rPr>
              <a:t> to detect suspicious withdrawal and deposit patterns that indicate account takeover or money laundering.</a:t>
            </a:r>
            <a:endParaRPr lang="en-US" sz="1750" dirty="0"/>
          </a:p>
        </p:txBody>
      </p:sp>
      <p:sp>
        <p:nvSpPr>
          <p:cNvPr id="7" name="Shape 5"/>
          <p:cNvSpPr/>
          <p:nvPr/>
        </p:nvSpPr>
        <p:spPr>
          <a:xfrm>
            <a:off x="5216962" y="1873568"/>
            <a:ext cx="4196358" cy="2819519"/>
          </a:xfrm>
          <a:prstGeom prst="roundRect">
            <a:avLst>
              <a:gd name="adj" fmla="val 5189"/>
            </a:avLst>
          </a:prstGeom>
          <a:solidFill>
            <a:srgbClr val="FFFFFF"/>
          </a:solidFill>
          <a:ln w="30480">
            <a:solidFill>
              <a:srgbClr val="B4CCE3"/>
            </a:solidFill>
            <a:prstDash val="solid"/>
          </a:ln>
        </p:spPr>
      </p:sp>
      <p:sp>
        <p:nvSpPr>
          <p:cNvPr id="8" name="Shape 6"/>
          <p:cNvSpPr/>
          <p:nvPr/>
        </p:nvSpPr>
        <p:spPr>
          <a:xfrm>
            <a:off x="5186482" y="1873568"/>
            <a:ext cx="121920" cy="2819519"/>
          </a:xfrm>
          <a:prstGeom prst="roundRect">
            <a:avLst>
              <a:gd name="adj" fmla="val 167442"/>
            </a:avLst>
          </a:prstGeom>
          <a:solidFill>
            <a:srgbClr val="84C1FA"/>
          </a:solidFill>
          <a:ln/>
        </p:spPr>
      </p:sp>
      <p:sp>
        <p:nvSpPr>
          <p:cNvPr id="9" name="Text 7"/>
          <p:cNvSpPr/>
          <p:nvPr/>
        </p:nvSpPr>
        <p:spPr>
          <a:xfrm>
            <a:off x="5565696" y="2130862"/>
            <a:ext cx="2985016"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Data Cleaning Applied</a:t>
            </a:r>
            <a:endParaRPr lang="en-US" sz="2200" dirty="0"/>
          </a:p>
        </p:txBody>
      </p:sp>
      <p:sp>
        <p:nvSpPr>
          <p:cNvPr id="10" name="Text 8"/>
          <p:cNvSpPr/>
          <p:nvPr/>
        </p:nvSpPr>
        <p:spPr>
          <a:xfrm>
            <a:off x="5565696" y="2621280"/>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Removed IDs and redundant columns (nameOrig, nameDest, raw balance fields) to eliminate noise and reduce dimensionality.</a:t>
            </a:r>
            <a:endParaRPr lang="en-US" sz="1750" dirty="0"/>
          </a:p>
        </p:txBody>
      </p:sp>
      <p:sp>
        <p:nvSpPr>
          <p:cNvPr id="11" name="Shape 9"/>
          <p:cNvSpPr/>
          <p:nvPr/>
        </p:nvSpPr>
        <p:spPr>
          <a:xfrm>
            <a:off x="9640133" y="1873568"/>
            <a:ext cx="4196358" cy="2819519"/>
          </a:xfrm>
          <a:prstGeom prst="roundRect">
            <a:avLst>
              <a:gd name="adj" fmla="val 5189"/>
            </a:avLst>
          </a:prstGeom>
          <a:solidFill>
            <a:srgbClr val="FFFFFF"/>
          </a:solidFill>
          <a:ln w="30480">
            <a:solidFill>
              <a:srgbClr val="B4CCE3"/>
            </a:solidFill>
            <a:prstDash val="solid"/>
          </a:ln>
        </p:spPr>
      </p:sp>
      <p:sp>
        <p:nvSpPr>
          <p:cNvPr id="12" name="Shape 10"/>
          <p:cNvSpPr/>
          <p:nvPr/>
        </p:nvSpPr>
        <p:spPr>
          <a:xfrm>
            <a:off x="9609653" y="1873568"/>
            <a:ext cx="121920" cy="2819519"/>
          </a:xfrm>
          <a:prstGeom prst="roundRect">
            <a:avLst>
              <a:gd name="adj" fmla="val 167442"/>
            </a:avLst>
          </a:prstGeom>
          <a:solidFill>
            <a:srgbClr val="84C1FA"/>
          </a:solidFill>
          <a:ln/>
        </p:spPr>
      </p:sp>
      <p:sp>
        <p:nvSpPr>
          <p:cNvPr id="13" name="Text 11"/>
          <p:cNvSpPr/>
          <p:nvPr/>
        </p:nvSpPr>
        <p:spPr>
          <a:xfrm>
            <a:off x="9988868" y="21308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Imbalance Strategy</a:t>
            </a:r>
            <a:endParaRPr lang="en-US" sz="2200" dirty="0"/>
          </a:p>
        </p:txBody>
      </p:sp>
      <p:sp>
        <p:nvSpPr>
          <p:cNvPr id="14" name="Text 12"/>
          <p:cNvSpPr/>
          <p:nvPr/>
        </p:nvSpPr>
        <p:spPr>
          <a:xfrm>
            <a:off x="9988868" y="2621280"/>
            <a:ext cx="3590330" cy="1814513"/>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Implemented </a:t>
            </a:r>
            <a:r>
              <a:rPr lang="en-US" sz="1750" dirty="0">
                <a:solidFill>
                  <a:srgbClr val="0540AD"/>
                </a:solidFill>
                <a:latin typeface="Instrument Sans Medium" pitchFamily="34" charset="0"/>
                <a:ea typeface="Instrument Sans Medium" pitchFamily="34" charset="-122"/>
                <a:cs typeface="Instrument Sans Medium" pitchFamily="34" charset="-120"/>
              </a:rPr>
              <a:t>Random Undersampling</a:t>
            </a:r>
            <a:r>
              <a:rPr lang="en-US" sz="1750" dirty="0">
                <a:solidFill>
                  <a:srgbClr val="1E3063"/>
                </a:solidFill>
                <a:latin typeface="Instrument Sans Medium" pitchFamily="34" charset="0"/>
                <a:ea typeface="Instrument Sans Medium" pitchFamily="34" charset="-122"/>
                <a:cs typeface="Instrument Sans Medium" pitchFamily="34" charset="-120"/>
              </a:rPr>
              <a:t> after testing revealed SMOTE introduced synthetic noise that increased fraud misclassification.</a:t>
            </a:r>
            <a:endParaRPr lang="en-US" sz="1750" dirty="0"/>
          </a:p>
        </p:txBody>
      </p:sp>
      <p:sp>
        <p:nvSpPr>
          <p:cNvPr id="15" name="Shape 13"/>
          <p:cNvSpPr/>
          <p:nvPr/>
        </p:nvSpPr>
        <p:spPr>
          <a:xfrm>
            <a:off x="793790" y="4919901"/>
            <a:ext cx="4196358" cy="2456617"/>
          </a:xfrm>
          <a:prstGeom prst="roundRect">
            <a:avLst>
              <a:gd name="adj" fmla="val 5956"/>
            </a:avLst>
          </a:prstGeom>
          <a:solidFill>
            <a:srgbClr val="FFFFFF"/>
          </a:solidFill>
          <a:ln w="30480">
            <a:solidFill>
              <a:srgbClr val="B4CCE3"/>
            </a:solidFill>
            <a:prstDash val="solid"/>
          </a:ln>
        </p:spPr>
      </p:sp>
      <p:sp>
        <p:nvSpPr>
          <p:cNvPr id="16" name="Shape 14"/>
          <p:cNvSpPr/>
          <p:nvPr/>
        </p:nvSpPr>
        <p:spPr>
          <a:xfrm>
            <a:off x="763310" y="4919901"/>
            <a:ext cx="121920" cy="2456617"/>
          </a:xfrm>
          <a:prstGeom prst="roundRect">
            <a:avLst>
              <a:gd name="adj" fmla="val 167442"/>
            </a:avLst>
          </a:prstGeom>
          <a:solidFill>
            <a:srgbClr val="84C1FA"/>
          </a:solidFill>
          <a:ln/>
        </p:spPr>
      </p:sp>
      <p:sp>
        <p:nvSpPr>
          <p:cNvPr id="17" name="Text 15"/>
          <p:cNvSpPr/>
          <p:nvPr/>
        </p:nvSpPr>
        <p:spPr>
          <a:xfrm>
            <a:off x="1142524" y="5177195"/>
            <a:ext cx="3522940"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Distribution Normalization</a:t>
            </a:r>
            <a:endParaRPr lang="en-US" sz="2200" dirty="0"/>
          </a:p>
        </p:txBody>
      </p:sp>
      <p:sp>
        <p:nvSpPr>
          <p:cNvPr id="18" name="Text 16"/>
          <p:cNvSpPr/>
          <p:nvPr/>
        </p:nvSpPr>
        <p:spPr>
          <a:xfrm>
            <a:off x="1142524" y="5667613"/>
            <a:ext cx="3590330" cy="1451610"/>
          </a:xfrm>
          <a:prstGeom prst="rect">
            <a:avLst/>
          </a:prstGeom>
          <a:noFill/>
          <a:ln/>
        </p:spPr>
        <p:txBody>
          <a:bodyPr wrap="square" lIns="0" tIns="0" rIns="0" bIns="0" rtlCol="0" anchor="t"/>
          <a:lstStyle/>
          <a:p>
            <a:pPr marL="0" indent="0" algn="l">
              <a:lnSpc>
                <a:spcPts val="2850"/>
              </a:lnSpc>
              <a:buNone/>
            </a:pPr>
            <a:r>
              <a:rPr lang="en-US" sz="1750" b="1" dirty="0">
                <a:solidFill>
                  <a:srgbClr val="1E3063"/>
                </a:solidFill>
                <a:latin typeface="Instrument Sans Medium" pitchFamily="34" charset="0"/>
                <a:ea typeface="Instrument Sans Medium" pitchFamily="34" charset="-122"/>
                <a:cs typeface="Instrument Sans Medium" pitchFamily="34" charset="-120"/>
              </a:rPr>
              <a:t>Log transformation</a:t>
            </a:r>
            <a:r>
              <a:rPr lang="en-US" sz="1750" dirty="0">
                <a:solidFill>
                  <a:srgbClr val="1E3063"/>
                </a:solidFill>
                <a:latin typeface="Instrument Sans Medium" pitchFamily="34" charset="0"/>
                <a:ea typeface="Instrument Sans Medium" pitchFamily="34" charset="-122"/>
                <a:cs typeface="Instrument Sans Medium" pitchFamily="34" charset="-120"/>
              </a:rPr>
              <a:t> applied to highly skewed features, creating more normal distributions for improved model learning.</a:t>
            </a:r>
            <a:endParaRPr lang="en-US" sz="1750" dirty="0"/>
          </a:p>
        </p:txBody>
      </p:sp>
      <p:sp>
        <p:nvSpPr>
          <p:cNvPr id="19" name="Shape 17"/>
          <p:cNvSpPr/>
          <p:nvPr/>
        </p:nvSpPr>
        <p:spPr>
          <a:xfrm>
            <a:off x="5216962" y="4919901"/>
            <a:ext cx="4196358" cy="2456617"/>
          </a:xfrm>
          <a:prstGeom prst="roundRect">
            <a:avLst>
              <a:gd name="adj" fmla="val 5956"/>
            </a:avLst>
          </a:prstGeom>
          <a:solidFill>
            <a:srgbClr val="FFFFFF"/>
          </a:solidFill>
          <a:ln w="30480">
            <a:solidFill>
              <a:srgbClr val="B4CCE3"/>
            </a:solidFill>
            <a:prstDash val="solid"/>
          </a:ln>
        </p:spPr>
      </p:sp>
      <p:sp>
        <p:nvSpPr>
          <p:cNvPr id="20" name="Shape 18"/>
          <p:cNvSpPr/>
          <p:nvPr/>
        </p:nvSpPr>
        <p:spPr>
          <a:xfrm>
            <a:off x="5186482" y="4919901"/>
            <a:ext cx="121920" cy="2456617"/>
          </a:xfrm>
          <a:prstGeom prst="roundRect">
            <a:avLst>
              <a:gd name="adj" fmla="val 167442"/>
            </a:avLst>
          </a:prstGeom>
          <a:solidFill>
            <a:srgbClr val="84C1FA"/>
          </a:solidFill>
          <a:ln/>
        </p:spPr>
      </p:sp>
      <p:sp>
        <p:nvSpPr>
          <p:cNvPr id="21" name="Text 19"/>
          <p:cNvSpPr/>
          <p:nvPr/>
        </p:nvSpPr>
        <p:spPr>
          <a:xfrm>
            <a:off x="5565696" y="5177195"/>
            <a:ext cx="2875121" cy="354330"/>
          </a:xfrm>
          <a:prstGeom prst="rect">
            <a:avLst/>
          </a:prstGeom>
          <a:noFill/>
          <a:ln/>
        </p:spPr>
        <p:txBody>
          <a:bodyPr wrap="none" lIns="0" tIns="0" rIns="0" bIns="0" rtlCol="0" anchor="t"/>
          <a:lstStyle/>
          <a:p>
            <a:pPr marL="0" indent="0" algn="l">
              <a:lnSpc>
                <a:spcPts val="2750"/>
              </a:lnSpc>
              <a:buNone/>
            </a:pPr>
            <a:r>
              <a:rPr lang="en-US" sz="2200" dirty="0">
                <a:solidFill>
                  <a:srgbClr val="1E3063"/>
                </a:solidFill>
                <a:latin typeface="Instrument Sans Semi Bold" pitchFamily="34" charset="0"/>
                <a:ea typeface="Instrument Sans Semi Bold" pitchFamily="34" charset="-122"/>
                <a:cs typeface="Instrument Sans Semi Bold" pitchFamily="34" charset="-120"/>
              </a:rPr>
              <a:t>Categorical Encoding</a:t>
            </a:r>
            <a:endParaRPr lang="en-US" sz="2200" dirty="0"/>
          </a:p>
        </p:txBody>
      </p:sp>
      <p:sp>
        <p:nvSpPr>
          <p:cNvPr id="22" name="Text 20"/>
          <p:cNvSpPr/>
          <p:nvPr/>
        </p:nvSpPr>
        <p:spPr>
          <a:xfrm>
            <a:off x="5565696" y="5667613"/>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One-hot encoded transaction types (CASH_OUT, TRANSFER, PAYMENT, DEBIT, CASH_IN) to enable algorithmic processing.</a:t>
            </a:r>
            <a:endParaRPr lang="en-US" sz="1750" dirty="0"/>
          </a:p>
        </p:txBody>
      </p:sp>
      <p:sp>
        <p:nvSpPr>
          <p:cNvPr id="23" name="TextBox 22">
            <a:extLst>
              <a:ext uri="{FF2B5EF4-FFF2-40B4-BE49-F238E27FC236}">
                <a16:creationId xmlns:a16="http://schemas.microsoft.com/office/drawing/2014/main" id="{AA60194C-6BE7-EB19-98CD-F61F3FCDBF37}"/>
              </a:ext>
            </a:extLst>
          </p:cNvPr>
          <p:cNvSpPr txBox="1"/>
          <p:nvPr/>
        </p:nvSpPr>
        <p:spPr>
          <a:xfrm>
            <a:off x="12824103" y="7738946"/>
            <a:ext cx="1806297" cy="490654"/>
          </a:xfrm>
          <a:prstGeom prst="rect">
            <a:avLst/>
          </a:prstGeom>
          <a:solidFill>
            <a:schemeClr val="bg1"/>
          </a:solidFill>
        </p:spPr>
        <p:txBody>
          <a:bodyPr wrap="square" rtlCol="0">
            <a:spAutoFit/>
          </a:bodyPr>
          <a:lstStyle/>
          <a:p>
            <a:endParaRPr lang="en-IN" dirty="0"/>
          </a:p>
        </p:txBody>
      </p:sp>
      <p:grpSp>
        <p:nvGrpSpPr>
          <p:cNvPr id="24" name="Group 12">
            <a:extLst>
              <a:ext uri="{FF2B5EF4-FFF2-40B4-BE49-F238E27FC236}">
                <a16:creationId xmlns:a16="http://schemas.microsoft.com/office/drawing/2014/main" id="{07C2AF66-AE0E-AFD4-D5C9-B1DB9CB17F73}"/>
              </a:ext>
            </a:extLst>
          </p:cNvPr>
          <p:cNvGrpSpPr>
            <a:grpSpLocks noChangeAspect="1"/>
          </p:cNvGrpSpPr>
          <p:nvPr/>
        </p:nvGrpSpPr>
        <p:grpSpPr>
          <a:xfrm>
            <a:off x="12614896" y="7481652"/>
            <a:ext cx="1928603" cy="524252"/>
            <a:chOff x="0" y="0"/>
            <a:chExt cx="4038678" cy="1097834"/>
          </a:xfrm>
        </p:grpSpPr>
        <p:sp>
          <p:nvSpPr>
            <p:cNvPr id="25" name="Freeform 13" descr="Top Ranked Data Science Institute, Classroom Plus Online Training | Boston  Institute of Analytics">
              <a:extLst>
                <a:ext uri="{FF2B5EF4-FFF2-40B4-BE49-F238E27FC236}">
                  <a16:creationId xmlns:a16="http://schemas.microsoft.com/office/drawing/2014/main" id="{5FB91E85-9D52-162F-E9D9-ADB09E580786}"/>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26" name="TextBox 11">
            <a:extLst>
              <a:ext uri="{FF2B5EF4-FFF2-40B4-BE49-F238E27FC236}">
                <a16:creationId xmlns:a16="http://schemas.microsoft.com/office/drawing/2014/main" id="{C998A83E-8632-C944-C245-FE54DF602788}"/>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18661" y="564594"/>
            <a:ext cx="9556671" cy="513278"/>
          </a:xfrm>
          <a:prstGeom prst="rect">
            <a:avLst/>
          </a:prstGeom>
          <a:noFill/>
          <a:ln/>
        </p:spPr>
        <p:txBody>
          <a:bodyPr wrap="none" lIns="0" tIns="0" rIns="0" bIns="0" rtlCol="0" anchor="t"/>
          <a:lstStyle/>
          <a:p>
            <a:pPr marL="0" indent="0" algn="l">
              <a:lnSpc>
                <a:spcPts val="4000"/>
              </a:lnSpc>
              <a:buNone/>
            </a:pPr>
            <a:r>
              <a:rPr lang="en-US" sz="3200" dirty="0">
                <a:solidFill>
                  <a:srgbClr val="091C53"/>
                </a:solidFill>
                <a:latin typeface="Instrument Sans Semi Bold" pitchFamily="34" charset="0"/>
                <a:ea typeface="Instrument Sans Semi Bold" pitchFamily="34" charset="-122"/>
                <a:cs typeface="Instrument Sans Semi Bold" pitchFamily="34" charset="-120"/>
              </a:rPr>
              <a:t>Model Performance: Finding the Optimal Solution</a:t>
            </a:r>
            <a:endParaRPr lang="en-US" sz="3200" dirty="0"/>
          </a:p>
        </p:txBody>
      </p:sp>
      <p:sp>
        <p:nvSpPr>
          <p:cNvPr id="3" name="Text 1"/>
          <p:cNvSpPr/>
          <p:nvPr/>
        </p:nvSpPr>
        <p:spPr>
          <a:xfrm>
            <a:off x="718661" y="1514118"/>
            <a:ext cx="3080028" cy="769858"/>
          </a:xfrm>
          <a:prstGeom prst="rect">
            <a:avLst/>
          </a:prstGeom>
          <a:noFill/>
          <a:ln/>
        </p:spPr>
        <p:txBody>
          <a:bodyPr wrap="square" lIns="0" tIns="0" rIns="0" bIns="0" rtlCol="0" anchor="t"/>
          <a:lstStyle/>
          <a:p>
            <a:pPr marL="0" indent="0" algn="l">
              <a:lnSpc>
                <a:spcPts val="300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Winner:Random Forest</a:t>
            </a:r>
            <a:endParaRPr lang="en-US" sz="2400" dirty="0"/>
          </a:p>
        </p:txBody>
      </p:sp>
      <p:sp>
        <p:nvSpPr>
          <p:cNvPr id="4" name="Text 2"/>
          <p:cNvSpPr/>
          <p:nvPr/>
        </p:nvSpPr>
        <p:spPr>
          <a:xfrm>
            <a:off x="718661" y="2617589"/>
            <a:ext cx="4291846" cy="677585"/>
          </a:xfrm>
          <a:prstGeom prst="rect">
            <a:avLst/>
          </a:prstGeom>
          <a:noFill/>
          <a:ln/>
        </p:spPr>
        <p:txBody>
          <a:bodyPr wrap="none" lIns="0" tIns="0" rIns="0" bIns="0" rtlCol="0" anchor="t"/>
          <a:lstStyle/>
          <a:p>
            <a:pPr marL="0" indent="0" algn="ctr">
              <a:lnSpc>
                <a:spcPts val="5300"/>
              </a:lnSpc>
              <a:buNone/>
            </a:pPr>
            <a:r>
              <a:rPr lang="en-US" sz="5300" dirty="0">
                <a:solidFill>
                  <a:srgbClr val="1E3063"/>
                </a:solidFill>
                <a:latin typeface="Instrument Sans Semi Bold" pitchFamily="34" charset="0"/>
                <a:ea typeface="Instrument Sans Semi Bold" pitchFamily="34" charset="-122"/>
                <a:cs typeface="Instrument Sans Semi Bold" pitchFamily="34" charset="-120"/>
              </a:rPr>
              <a:t>0.969</a:t>
            </a:r>
            <a:endParaRPr lang="en-US" sz="5300" dirty="0"/>
          </a:p>
        </p:txBody>
      </p:sp>
      <p:sp>
        <p:nvSpPr>
          <p:cNvPr id="5" name="Text 3"/>
          <p:cNvSpPr/>
          <p:nvPr/>
        </p:nvSpPr>
        <p:spPr>
          <a:xfrm>
            <a:off x="1581150" y="3551753"/>
            <a:ext cx="2566749" cy="320873"/>
          </a:xfrm>
          <a:prstGeom prst="rect">
            <a:avLst/>
          </a:prstGeom>
          <a:noFill/>
          <a:ln/>
        </p:spPr>
        <p:txBody>
          <a:bodyPr wrap="none" lIns="0" tIns="0" rIns="0" bIns="0" rtlCol="0" anchor="t"/>
          <a:lstStyle/>
          <a:p>
            <a:pPr marL="0" indent="0" algn="ct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F1-Score</a:t>
            </a:r>
            <a:endParaRPr lang="en-US" sz="2000" dirty="0"/>
          </a:p>
        </p:txBody>
      </p:sp>
      <p:sp>
        <p:nvSpPr>
          <p:cNvPr id="6" name="Text 4"/>
          <p:cNvSpPr/>
          <p:nvPr/>
        </p:nvSpPr>
        <p:spPr>
          <a:xfrm>
            <a:off x="718661" y="4385905"/>
            <a:ext cx="4291846" cy="677585"/>
          </a:xfrm>
          <a:prstGeom prst="rect">
            <a:avLst/>
          </a:prstGeom>
          <a:noFill/>
          <a:ln/>
        </p:spPr>
        <p:txBody>
          <a:bodyPr wrap="none" lIns="0" tIns="0" rIns="0" bIns="0" rtlCol="0" anchor="t"/>
          <a:lstStyle/>
          <a:p>
            <a:pPr marL="0" indent="0" algn="ctr">
              <a:lnSpc>
                <a:spcPts val="5300"/>
              </a:lnSpc>
              <a:buNone/>
            </a:pPr>
            <a:r>
              <a:rPr lang="en-US" sz="5300" dirty="0">
                <a:solidFill>
                  <a:srgbClr val="1E3063"/>
                </a:solidFill>
                <a:latin typeface="Instrument Sans Semi Bold" pitchFamily="34" charset="0"/>
                <a:ea typeface="Instrument Sans Semi Bold" pitchFamily="34" charset="-122"/>
                <a:cs typeface="Instrument Sans Semi Bold" pitchFamily="34" charset="-120"/>
              </a:rPr>
              <a:t>0.95</a:t>
            </a:r>
            <a:endParaRPr lang="en-US" sz="5300" dirty="0"/>
          </a:p>
        </p:txBody>
      </p:sp>
      <p:sp>
        <p:nvSpPr>
          <p:cNvPr id="7" name="Text 5"/>
          <p:cNvSpPr/>
          <p:nvPr/>
        </p:nvSpPr>
        <p:spPr>
          <a:xfrm>
            <a:off x="1581150" y="5320070"/>
            <a:ext cx="2566749" cy="320873"/>
          </a:xfrm>
          <a:prstGeom prst="rect">
            <a:avLst/>
          </a:prstGeom>
          <a:noFill/>
          <a:ln/>
        </p:spPr>
        <p:txBody>
          <a:bodyPr wrap="none" lIns="0" tIns="0" rIns="0" bIns="0" rtlCol="0" anchor="t"/>
          <a:lstStyle/>
          <a:p>
            <a:pPr marL="0" indent="0" algn="ct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Fraud Recall</a:t>
            </a:r>
            <a:endParaRPr lang="en-US" sz="2000" dirty="0"/>
          </a:p>
        </p:txBody>
      </p:sp>
      <p:sp>
        <p:nvSpPr>
          <p:cNvPr id="8" name="Text 6"/>
          <p:cNvSpPr/>
          <p:nvPr/>
        </p:nvSpPr>
        <p:spPr>
          <a:xfrm>
            <a:off x="718661" y="6154222"/>
            <a:ext cx="4291846" cy="677585"/>
          </a:xfrm>
          <a:prstGeom prst="rect">
            <a:avLst/>
          </a:prstGeom>
          <a:noFill/>
          <a:ln/>
        </p:spPr>
        <p:txBody>
          <a:bodyPr wrap="none" lIns="0" tIns="0" rIns="0" bIns="0" rtlCol="0" anchor="t"/>
          <a:lstStyle/>
          <a:p>
            <a:pPr marL="0" indent="0" algn="ctr">
              <a:lnSpc>
                <a:spcPts val="5300"/>
              </a:lnSpc>
              <a:buNone/>
            </a:pPr>
            <a:r>
              <a:rPr lang="en-US" sz="5300" dirty="0">
                <a:solidFill>
                  <a:srgbClr val="1E3063"/>
                </a:solidFill>
                <a:latin typeface="Instrument Sans Semi Bold" pitchFamily="34" charset="0"/>
                <a:ea typeface="Instrument Sans Semi Bold" pitchFamily="34" charset="-122"/>
                <a:cs typeface="Instrument Sans Semi Bold" pitchFamily="34" charset="-120"/>
              </a:rPr>
              <a:t>0.975</a:t>
            </a:r>
            <a:endParaRPr lang="en-US" sz="5300" dirty="0"/>
          </a:p>
        </p:txBody>
      </p:sp>
      <p:sp>
        <p:nvSpPr>
          <p:cNvPr id="9" name="Text 7"/>
          <p:cNvSpPr/>
          <p:nvPr/>
        </p:nvSpPr>
        <p:spPr>
          <a:xfrm>
            <a:off x="1581150" y="7088386"/>
            <a:ext cx="2566749" cy="320873"/>
          </a:xfrm>
          <a:prstGeom prst="rect">
            <a:avLst/>
          </a:prstGeom>
          <a:noFill/>
          <a:ln/>
        </p:spPr>
        <p:txBody>
          <a:bodyPr wrap="none" lIns="0" tIns="0" rIns="0" bIns="0" rtlCol="0" anchor="t"/>
          <a:lstStyle/>
          <a:p>
            <a:pPr marL="0" indent="0" algn="ct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AUC-ROC</a:t>
            </a:r>
            <a:endParaRPr lang="en-US" sz="2000" dirty="0"/>
          </a:p>
        </p:txBody>
      </p:sp>
      <p:sp>
        <p:nvSpPr>
          <p:cNvPr id="10" name="Text 8"/>
          <p:cNvSpPr/>
          <p:nvPr/>
        </p:nvSpPr>
        <p:spPr>
          <a:xfrm>
            <a:off x="5519142" y="1144967"/>
            <a:ext cx="3239691" cy="320873"/>
          </a:xfrm>
          <a:prstGeom prst="rect">
            <a:avLst/>
          </a:prstGeom>
          <a:noFill/>
          <a:ln/>
        </p:spPr>
        <p:txBody>
          <a:bodyPr wrap="none" lIns="0" tIns="0" rIns="0" bIns="0" rtlCol="0" anchor="t"/>
          <a:lstStyle/>
          <a:p>
            <a:pPr marL="0" indent="0" algn="l">
              <a:lnSpc>
                <a:spcPts val="2500"/>
              </a:lnSpc>
              <a:buNone/>
            </a:pPr>
            <a:r>
              <a:rPr lang="en-US" sz="2000" dirty="0">
                <a:solidFill>
                  <a:srgbClr val="091C53"/>
                </a:solidFill>
                <a:latin typeface="Instrument Sans Semi Bold" pitchFamily="34" charset="0"/>
                <a:ea typeface="Instrument Sans Semi Bold" pitchFamily="34" charset="-122"/>
                <a:cs typeface="Instrument Sans Semi Bold" pitchFamily="34" charset="-120"/>
              </a:rPr>
              <a:t>Model Comparison Results</a:t>
            </a:r>
            <a:endParaRPr lang="en-US" sz="2000" dirty="0"/>
          </a:p>
        </p:txBody>
      </p:sp>
      <p:pic>
        <p:nvPicPr>
          <p:cNvPr id="11" name="Image 0" descr="preencoded.png"/>
          <p:cNvPicPr>
            <a:picLocks noChangeAspect="1"/>
          </p:cNvPicPr>
          <p:nvPr/>
        </p:nvPicPr>
        <p:blipFill>
          <a:blip r:embed="rId3"/>
          <a:stretch>
            <a:fillRect/>
          </a:stretch>
        </p:blipFill>
        <p:spPr>
          <a:xfrm>
            <a:off x="5527730" y="1493429"/>
            <a:ext cx="8400098" cy="4704040"/>
          </a:xfrm>
          <a:prstGeom prst="rect">
            <a:avLst/>
          </a:prstGeom>
        </p:spPr>
      </p:pic>
      <p:sp>
        <p:nvSpPr>
          <p:cNvPr id="12" name="Text 9"/>
          <p:cNvSpPr/>
          <p:nvPr/>
        </p:nvSpPr>
        <p:spPr>
          <a:xfrm>
            <a:off x="5496996" y="6262985"/>
            <a:ext cx="8400098" cy="985837"/>
          </a:xfrm>
          <a:prstGeom prst="rect">
            <a:avLst/>
          </a:prstGeom>
          <a:noFill/>
          <a:ln/>
        </p:spPr>
        <p:txBody>
          <a:bodyPr wrap="square" lIns="0" tIns="0" rIns="0" bIns="0" rtlCol="0" anchor="t"/>
          <a:lstStyle/>
          <a:p>
            <a:pPr marL="0" indent="0" algn="l">
              <a:lnSpc>
                <a:spcPts val="2550"/>
              </a:lnSpc>
              <a:buNone/>
            </a:pPr>
            <a:r>
              <a:rPr lang="en-US" sz="1600" dirty="0">
                <a:solidFill>
                  <a:srgbClr val="1E3063"/>
                </a:solidFill>
                <a:latin typeface="Instrument Sans Medium" pitchFamily="34" charset="0"/>
                <a:ea typeface="Instrument Sans Medium" pitchFamily="34" charset="-122"/>
                <a:cs typeface="Instrument Sans Medium" pitchFamily="34" charset="-120"/>
              </a:rPr>
              <a:t>Random Forest emerged as the </a:t>
            </a:r>
            <a:r>
              <a:rPr lang="en-US" sz="1600" dirty="0">
                <a:solidFill>
                  <a:srgbClr val="1A561C"/>
                </a:solidFill>
                <a:latin typeface="Instrument Sans Medium" pitchFamily="34" charset="0"/>
                <a:ea typeface="Instrument Sans Medium" pitchFamily="34" charset="-122"/>
                <a:cs typeface="Instrument Sans Medium" pitchFamily="34" charset="-120"/>
              </a:rPr>
              <a:t>top performer</a:t>
            </a:r>
            <a:r>
              <a:rPr lang="en-US" sz="1600" dirty="0">
                <a:solidFill>
                  <a:srgbClr val="1E3063"/>
                </a:solidFill>
                <a:latin typeface="Instrument Sans Medium" pitchFamily="34" charset="0"/>
                <a:ea typeface="Instrument Sans Medium" pitchFamily="34" charset="-122"/>
                <a:cs typeface="Instrument Sans Medium" pitchFamily="34" charset="-120"/>
              </a:rPr>
              <a:t>, achieving exceptional recall while maintaining high precision. XGBoost showed slight overfitting tendencies despite strong performance.</a:t>
            </a:r>
            <a:endParaRPr lang="en-US" sz="1600" dirty="0"/>
          </a:p>
        </p:txBody>
      </p:sp>
      <p:sp>
        <p:nvSpPr>
          <p:cNvPr id="13" name="TextBox 12">
            <a:extLst>
              <a:ext uri="{FF2B5EF4-FFF2-40B4-BE49-F238E27FC236}">
                <a16:creationId xmlns:a16="http://schemas.microsoft.com/office/drawing/2014/main" id="{420EB5C3-F9B6-752F-9E43-E2B9A33D48C3}"/>
              </a:ext>
            </a:extLst>
          </p:cNvPr>
          <p:cNvSpPr txBox="1"/>
          <p:nvPr/>
        </p:nvSpPr>
        <p:spPr>
          <a:xfrm>
            <a:off x="12768146" y="7758114"/>
            <a:ext cx="1862254" cy="471486"/>
          </a:xfrm>
          <a:prstGeom prst="rect">
            <a:avLst/>
          </a:prstGeom>
          <a:solidFill>
            <a:schemeClr val="bg1"/>
          </a:solidFill>
        </p:spPr>
        <p:txBody>
          <a:bodyPr wrap="square" rtlCol="0">
            <a:spAutoFit/>
          </a:bodyPr>
          <a:lstStyle/>
          <a:p>
            <a:endParaRPr lang="en-IN" dirty="0"/>
          </a:p>
        </p:txBody>
      </p:sp>
      <p:grpSp>
        <p:nvGrpSpPr>
          <p:cNvPr id="14" name="Group 12">
            <a:extLst>
              <a:ext uri="{FF2B5EF4-FFF2-40B4-BE49-F238E27FC236}">
                <a16:creationId xmlns:a16="http://schemas.microsoft.com/office/drawing/2014/main" id="{9D5D9B1B-5369-0011-B81D-CFAFA492707A}"/>
              </a:ext>
            </a:extLst>
          </p:cNvPr>
          <p:cNvGrpSpPr>
            <a:grpSpLocks noChangeAspect="1"/>
          </p:cNvGrpSpPr>
          <p:nvPr/>
        </p:nvGrpSpPr>
        <p:grpSpPr>
          <a:xfrm>
            <a:off x="13114129" y="7609415"/>
            <a:ext cx="1437950" cy="390878"/>
            <a:chOff x="0" y="0"/>
            <a:chExt cx="4038678" cy="1097834"/>
          </a:xfrm>
        </p:grpSpPr>
        <p:sp>
          <p:nvSpPr>
            <p:cNvPr id="15" name="Freeform 13" descr="Top Ranked Data Science Institute, Classroom Plus Online Training | Boston  Institute of Analytics">
              <a:extLst>
                <a:ext uri="{FF2B5EF4-FFF2-40B4-BE49-F238E27FC236}">
                  <a16:creationId xmlns:a16="http://schemas.microsoft.com/office/drawing/2014/main" id="{250A46F3-95D3-534C-51A2-93D5BAEE555D}"/>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4"/>
              <a:stretch>
                <a:fillRect l="-4316" r="-3590" b="-4"/>
              </a:stretch>
            </a:blipFill>
          </p:spPr>
        </p:sp>
      </p:grpSp>
      <p:sp>
        <p:nvSpPr>
          <p:cNvPr id="16" name="TextBox 11">
            <a:extLst>
              <a:ext uri="{FF2B5EF4-FFF2-40B4-BE49-F238E27FC236}">
                <a16:creationId xmlns:a16="http://schemas.microsoft.com/office/drawing/2014/main" id="{4212D02D-13B4-ED5B-0498-E8F184D010F2}"/>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32219"/>
          </a:xfrm>
          <a:prstGeom prst="rect">
            <a:avLst/>
          </a:prstGeom>
        </p:spPr>
      </p:pic>
      <p:sp>
        <p:nvSpPr>
          <p:cNvPr id="3" name="Text 0"/>
          <p:cNvSpPr/>
          <p:nvPr/>
        </p:nvSpPr>
        <p:spPr>
          <a:xfrm>
            <a:off x="6185178" y="548997"/>
            <a:ext cx="7746444" cy="998220"/>
          </a:xfrm>
          <a:prstGeom prst="rect">
            <a:avLst/>
          </a:prstGeom>
          <a:noFill/>
          <a:ln/>
        </p:spPr>
        <p:txBody>
          <a:bodyPr wrap="square" lIns="0" tIns="0" rIns="0" bIns="0" rtlCol="0" anchor="t"/>
          <a:lstStyle/>
          <a:p>
            <a:pPr marL="0" indent="0" algn="l">
              <a:lnSpc>
                <a:spcPts val="3900"/>
              </a:lnSpc>
              <a:buNone/>
            </a:pPr>
            <a:r>
              <a:rPr lang="en-US" sz="3100" dirty="0">
                <a:solidFill>
                  <a:srgbClr val="091C53"/>
                </a:solidFill>
                <a:latin typeface="Instrument Sans Semi Bold" pitchFamily="34" charset="0"/>
                <a:ea typeface="Instrument Sans Semi Bold" pitchFamily="34" charset="-122"/>
                <a:cs typeface="Instrument Sans Semi Bold" pitchFamily="34" charset="-120"/>
              </a:rPr>
              <a:t>SHAP Analysis: Understanding Model Decisions</a:t>
            </a:r>
            <a:endParaRPr lang="en-US" sz="3100" dirty="0"/>
          </a:p>
        </p:txBody>
      </p:sp>
      <p:pic>
        <p:nvPicPr>
          <p:cNvPr id="4" name="Image 1" descr="preencoded.png"/>
          <p:cNvPicPr>
            <a:picLocks noChangeAspect="1"/>
          </p:cNvPicPr>
          <p:nvPr/>
        </p:nvPicPr>
        <p:blipFill>
          <a:blip r:embed="rId4"/>
          <a:stretch>
            <a:fillRect/>
          </a:stretch>
        </p:blipFill>
        <p:spPr>
          <a:xfrm>
            <a:off x="6185178" y="1771769"/>
            <a:ext cx="998220" cy="1469708"/>
          </a:xfrm>
          <a:prstGeom prst="rect">
            <a:avLst/>
          </a:prstGeom>
        </p:spPr>
      </p:pic>
      <p:sp>
        <p:nvSpPr>
          <p:cNvPr id="5" name="Text 1"/>
          <p:cNvSpPr/>
          <p:nvPr/>
        </p:nvSpPr>
        <p:spPr>
          <a:xfrm>
            <a:off x="7382947" y="1971318"/>
            <a:ext cx="2495550" cy="311944"/>
          </a:xfrm>
          <a:prstGeom prst="rect">
            <a:avLst/>
          </a:prstGeom>
          <a:noFill/>
          <a:ln/>
        </p:spPr>
        <p:txBody>
          <a:bodyPr wrap="none" lIns="0" tIns="0" rIns="0" bIns="0" rtlCol="0" anchor="t"/>
          <a:lstStyle/>
          <a:p>
            <a:pPr marL="0" indent="0" algn="l">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Time Step</a:t>
            </a:r>
            <a:endParaRPr lang="en-US" sz="1950" dirty="0"/>
          </a:p>
        </p:txBody>
      </p:sp>
      <p:sp>
        <p:nvSpPr>
          <p:cNvPr id="6" name="Text 2"/>
          <p:cNvSpPr/>
          <p:nvPr/>
        </p:nvSpPr>
        <p:spPr>
          <a:xfrm>
            <a:off x="7382947" y="2403038"/>
            <a:ext cx="6548676" cy="63888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Fraud occurs in concentrated bursts at specific time intervals, revealing coordinated attack patterns</a:t>
            </a:r>
            <a:endParaRPr lang="en-US" sz="1550" dirty="0"/>
          </a:p>
        </p:txBody>
      </p:sp>
      <p:pic>
        <p:nvPicPr>
          <p:cNvPr id="7" name="Image 2" descr="preencoded.png"/>
          <p:cNvPicPr>
            <a:picLocks noChangeAspect="1"/>
          </p:cNvPicPr>
          <p:nvPr/>
        </p:nvPicPr>
        <p:blipFill>
          <a:blip r:embed="rId5"/>
          <a:stretch>
            <a:fillRect/>
          </a:stretch>
        </p:blipFill>
        <p:spPr>
          <a:xfrm>
            <a:off x="6185178" y="3241477"/>
            <a:ext cx="998220" cy="1469708"/>
          </a:xfrm>
          <a:prstGeom prst="rect">
            <a:avLst/>
          </a:prstGeom>
        </p:spPr>
      </p:pic>
      <p:sp>
        <p:nvSpPr>
          <p:cNvPr id="8" name="Text 3"/>
          <p:cNvSpPr/>
          <p:nvPr/>
        </p:nvSpPr>
        <p:spPr>
          <a:xfrm>
            <a:off x="7382947" y="3441025"/>
            <a:ext cx="2495550" cy="311944"/>
          </a:xfrm>
          <a:prstGeom prst="rect">
            <a:avLst/>
          </a:prstGeom>
          <a:noFill/>
          <a:ln/>
        </p:spPr>
        <p:txBody>
          <a:bodyPr wrap="none" lIns="0" tIns="0" rIns="0" bIns="0" rtlCol="0" anchor="t"/>
          <a:lstStyle/>
          <a:p>
            <a:pPr marL="0" indent="0" algn="l">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High Ratios</a:t>
            </a:r>
            <a:endParaRPr lang="en-US" sz="1950" dirty="0"/>
          </a:p>
        </p:txBody>
      </p:sp>
      <p:sp>
        <p:nvSpPr>
          <p:cNvPr id="9" name="Text 4"/>
          <p:cNvSpPr/>
          <p:nvPr/>
        </p:nvSpPr>
        <p:spPr>
          <a:xfrm>
            <a:off x="7382947" y="3872746"/>
            <a:ext cx="6548676" cy="63888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Amount-to-balance ratios serve as the strongest fraud predictor, identifying account drainage</a:t>
            </a:r>
            <a:endParaRPr lang="en-US" sz="1550" dirty="0"/>
          </a:p>
        </p:txBody>
      </p:sp>
      <p:pic>
        <p:nvPicPr>
          <p:cNvPr id="10" name="Image 3" descr="preencoded.png"/>
          <p:cNvPicPr>
            <a:picLocks noChangeAspect="1"/>
          </p:cNvPicPr>
          <p:nvPr/>
        </p:nvPicPr>
        <p:blipFill>
          <a:blip r:embed="rId6"/>
          <a:stretch>
            <a:fillRect/>
          </a:stretch>
        </p:blipFill>
        <p:spPr>
          <a:xfrm>
            <a:off x="6185178" y="4711184"/>
            <a:ext cx="998220" cy="1469708"/>
          </a:xfrm>
          <a:prstGeom prst="rect">
            <a:avLst/>
          </a:prstGeom>
        </p:spPr>
      </p:pic>
      <p:sp>
        <p:nvSpPr>
          <p:cNvPr id="11" name="Text 5"/>
          <p:cNvSpPr/>
          <p:nvPr/>
        </p:nvSpPr>
        <p:spPr>
          <a:xfrm>
            <a:off x="7382947" y="4910733"/>
            <a:ext cx="2495550" cy="311944"/>
          </a:xfrm>
          <a:prstGeom prst="rect">
            <a:avLst/>
          </a:prstGeom>
          <a:noFill/>
          <a:ln/>
        </p:spPr>
        <p:txBody>
          <a:bodyPr wrap="none" lIns="0" tIns="0" rIns="0" bIns="0" rtlCol="0" anchor="t"/>
          <a:lstStyle/>
          <a:p>
            <a:pPr marL="0" indent="0" algn="l">
              <a:lnSpc>
                <a:spcPts val="24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Transaction Type</a:t>
            </a:r>
            <a:endParaRPr lang="en-US" sz="1950" dirty="0"/>
          </a:p>
        </p:txBody>
      </p:sp>
      <p:sp>
        <p:nvSpPr>
          <p:cNvPr id="12" name="Text 6"/>
          <p:cNvSpPr/>
          <p:nvPr/>
        </p:nvSpPr>
        <p:spPr>
          <a:xfrm>
            <a:off x="7382947" y="5342453"/>
            <a:ext cx="6548676" cy="638889"/>
          </a:xfrm>
          <a:prstGeom prst="rect">
            <a:avLst/>
          </a:prstGeom>
          <a:noFill/>
          <a:ln/>
        </p:spPr>
        <p:txBody>
          <a:bodyPr wrap="square" lIns="0" tIns="0" rIns="0" bIns="0" rtlCol="0" anchor="t"/>
          <a:lstStyle/>
          <a:p>
            <a:pPr marL="0" indent="0" algn="l">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CASH_OUT and TRANSFER transactions dominate fraud cases, guiding monitoring priorities</a:t>
            </a:r>
            <a:endParaRPr lang="en-US" sz="1550" dirty="0"/>
          </a:p>
        </p:txBody>
      </p:sp>
      <p:sp>
        <p:nvSpPr>
          <p:cNvPr id="13" name="Text 7"/>
          <p:cNvSpPr/>
          <p:nvPr/>
        </p:nvSpPr>
        <p:spPr>
          <a:xfrm>
            <a:off x="6185178" y="6405443"/>
            <a:ext cx="7746444" cy="1277779"/>
          </a:xfrm>
          <a:prstGeom prst="rect">
            <a:avLst/>
          </a:prstGeom>
          <a:noFill/>
          <a:ln/>
        </p:spPr>
        <p:txBody>
          <a:bodyPr wrap="square" lIns="0" tIns="0" rIns="0" bIns="0" rtlCol="0" anchor="t"/>
          <a:lstStyle/>
          <a:p>
            <a:pPr marL="0" indent="0" algn="l">
              <a:lnSpc>
                <a:spcPts val="2500"/>
              </a:lnSpc>
              <a:buNone/>
            </a:pPr>
            <a:r>
              <a:rPr lang="en-US" sz="1550" b="1" dirty="0">
                <a:solidFill>
                  <a:srgbClr val="1E3063"/>
                </a:solidFill>
                <a:latin typeface="Instrument Sans Medium" pitchFamily="34" charset="0"/>
                <a:ea typeface="Instrument Sans Medium" pitchFamily="34" charset="-122"/>
                <a:cs typeface="Instrument Sans Medium" pitchFamily="34" charset="-120"/>
              </a:rPr>
              <a:t>Explainability insight:</a:t>
            </a:r>
            <a:r>
              <a:rPr lang="en-US" sz="1550" dirty="0">
                <a:solidFill>
                  <a:srgbClr val="1E3063"/>
                </a:solidFill>
                <a:latin typeface="Instrument Sans Medium" pitchFamily="34" charset="0"/>
                <a:ea typeface="Instrument Sans Medium" pitchFamily="34" charset="-122"/>
                <a:cs typeface="Instrument Sans Medium" pitchFamily="34" charset="-120"/>
              </a:rPr>
              <a:t> SHAP values reveal that temporal patterns, financial ratios, and transaction mechanisms work together to create a comprehensive fraud detection signature. This transparency enables security teams to understand and trust model decisions.</a:t>
            </a:r>
            <a:endParaRPr lang="en-US" sz="1550" dirty="0"/>
          </a:p>
        </p:txBody>
      </p:sp>
      <p:sp>
        <p:nvSpPr>
          <p:cNvPr id="14" name="TextBox 13">
            <a:extLst>
              <a:ext uri="{FF2B5EF4-FFF2-40B4-BE49-F238E27FC236}">
                <a16:creationId xmlns:a16="http://schemas.microsoft.com/office/drawing/2014/main" id="{9E1C9CF4-3E9A-1C9F-6FB5-3AC6A4C48E51}"/>
              </a:ext>
            </a:extLst>
          </p:cNvPr>
          <p:cNvSpPr txBox="1"/>
          <p:nvPr/>
        </p:nvSpPr>
        <p:spPr>
          <a:xfrm>
            <a:off x="12690088" y="7683222"/>
            <a:ext cx="1862253" cy="446017"/>
          </a:xfrm>
          <a:prstGeom prst="rect">
            <a:avLst/>
          </a:prstGeom>
          <a:solidFill>
            <a:schemeClr val="bg1"/>
          </a:solidFill>
        </p:spPr>
        <p:txBody>
          <a:bodyPr wrap="square" rtlCol="0">
            <a:spAutoFit/>
          </a:bodyPr>
          <a:lstStyle/>
          <a:p>
            <a:endParaRPr lang="en-IN" dirty="0"/>
          </a:p>
        </p:txBody>
      </p:sp>
      <p:grpSp>
        <p:nvGrpSpPr>
          <p:cNvPr id="15" name="Group 12">
            <a:extLst>
              <a:ext uri="{FF2B5EF4-FFF2-40B4-BE49-F238E27FC236}">
                <a16:creationId xmlns:a16="http://schemas.microsoft.com/office/drawing/2014/main" id="{44CC4B53-2F03-55A0-D97B-F95EAC189ED4}"/>
              </a:ext>
            </a:extLst>
          </p:cNvPr>
          <p:cNvGrpSpPr>
            <a:grpSpLocks noChangeAspect="1"/>
          </p:cNvGrpSpPr>
          <p:nvPr/>
        </p:nvGrpSpPr>
        <p:grpSpPr>
          <a:xfrm>
            <a:off x="12609463" y="7579190"/>
            <a:ext cx="1942878" cy="528133"/>
            <a:chOff x="0" y="0"/>
            <a:chExt cx="4038678" cy="1097834"/>
          </a:xfrm>
        </p:grpSpPr>
        <p:sp>
          <p:nvSpPr>
            <p:cNvPr id="16" name="Freeform 13" descr="Top Ranked Data Science Institute, Classroom Plus Online Training | Boston  Institute of Analytics">
              <a:extLst>
                <a:ext uri="{FF2B5EF4-FFF2-40B4-BE49-F238E27FC236}">
                  <a16:creationId xmlns:a16="http://schemas.microsoft.com/office/drawing/2014/main" id="{6C03A012-D43E-2FD0-7FA1-A25CD8C49E98}"/>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7"/>
              <a:stretch>
                <a:fillRect l="-4316" r="-3590" b="-4"/>
              </a:stretch>
            </a:blipFill>
          </p:spPr>
        </p:sp>
      </p:grpSp>
      <p:sp>
        <p:nvSpPr>
          <p:cNvPr id="17" name="TextBox 11">
            <a:extLst>
              <a:ext uri="{FF2B5EF4-FFF2-40B4-BE49-F238E27FC236}">
                <a16:creationId xmlns:a16="http://schemas.microsoft.com/office/drawing/2014/main" id="{BAAAFDAE-2EB2-C1B0-12B5-01EC68F9952F}"/>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2828" y="567928"/>
            <a:ext cx="7394853" cy="516374"/>
          </a:xfrm>
          <a:prstGeom prst="rect">
            <a:avLst/>
          </a:prstGeom>
          <a:noFill/>
          <a:ln/>
        </p:spPr>
        <p:txBody>
          <a:bodyPr wrap="none" lIns="0" tIns="0" rIns="0" bIns="0" rtlCol="0" anchor="t"/>
          <a:lstStyle/>
          <a:p>
            <a:pPr marL="0" indent="0" algn="l">
              <a:lnSpc>
                <a:spcPts val="4050"/>
              </a:lnSpc>
              <a:buNone/>
            </a:pPr>
            <a:r>
              <a:rPr lang="en-US" sz="3250" dirty="0">
                <a:solidFill>
                  <a:srgbClr val="091C53"/>
                </a:solidFill>
                <a:latin typeface="Instrument Sans Semi Bold" pitchFamily="34" charset="0"/>
                <a:ea typeface="Instrument Sans Semi Bold" pitchFamily="34" charset="-122"/>
                <a:cs typeface="Instrument Sans Semi Bold" pitchFamily="34" charset="-120"/>
              </a:rPr>
              <a:t>Financial Impact: Quantifying Success</a:t>
            </a:r>
            <a:endParaRPr lang="en-US" sz="3250" dirty="0"/>
          </a:p>
        </p:txBody>
      </p:sp>
      <p:sp>
        <p:nvSpPr>
          <p:cNvPr id="3" name="Shape 1"/>
          <p:cNvSpPr/>
          <p:nvPr/>
        </p:nvSpPr>
        <p:spPr>
          <a:xfrm>
            <a:off x="7303770" y="1497330"/>
            <a:ext cx="22860" cy="6167199"/>
          </a:xfrm>
          <a:prstGeom prst="roundRect">
            <a:avLst>
              <a:gd name="adj" fmla="val 813208"/>
            </a:avLst>
          </a:prstGeom>
          <a:solidFill>
            <a:srgbClr val="B4CCE3"/>
          </a:solidFill>
          <a:ln/>
        </p:spPr>
      </p:sp>
      <p:sp>
        <p:nvSpPr>
          <p:cNvPr id="4" name="Shape 2"/>
          <p:cNvSpPr/>
          <p:nvPr/>
        </p:nvSpPr>
        <p:spPr>
          <a:xfrm>
            <a:off x="6486108" y="1718191"/>
            <a:ext cx="619601" cy="22860"/>
          </a:xfrm>
          <a:prstGeom prst="roundRect">
            <a:avLst>
              <a:gd name="adj" fmla="val 813208"/>
            </a:avLst>
          </a:prstGeom>
          <a:solidFill>
            <a:srgbClr val="B4CCE3"/>
          </a:solidFill>
          <a:ln/>
        </p:spPr>
      </p:sp>
      <p:sp>
        <p:nvSpPr>
          <p:cNvPr id="5" name="Shape 3"/>
          <p:cNvSpPr/>
          <p:nvPr/>
        </p:nvSpPr>
        <p:spPr>
          <a:xfrm>
            <a:off x="7082850" y="1497330"/>
            <a:ext cx="464701" cy="464701"/>
          </a:xfrm>
          <a:prstGeom prst="roundRect">
            <a:avLst>
              <a:gd name="adj" fmla="val 40004"/>
            </a:avLst>
          </a:prstGeom>
          <a:solidFill>
            <a:srgbClr val="CEE6FD"/>
          </a:solidFill>
          <a:ln/>
        </p:spPr>
      </p:sp>
      <p:sp>
        <p:nvSpPr>
          <p:cNvPr id="6" name="Text 4"/>
          <p:cNvSpPr/>
          <p:nvPr/>
        </p:nvSpPr>
        <p:spPr>
          <a:xfrm>
            <a:off x="7160240" y="1536025"/>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1</a:t>
            </a:r>
            <a:endParaRPr lang="en-US" sz="2400" dirty="0"/>
          </a:p>
        </p:txBody>
      </p:sp>
      <p:sp>
        <p:nvSpPr>
          <p:cNvPr id="7" name="Text 5"/>
          <p:cNvSpPr/>
          <p:nvPr/>
        </p:nvSpPr>
        <p:spPr>
          <a:xfrm>
            <a:off x="3399830" y="1568291"/>
            <a:ext cx="2882622" cy="322778"/>
          </a:xfrm>
          <a:prstGeom prst="rect">
            <a:avLst/>
          </a:prstGeom>
          <a:noFill/>
          <a:ln/>
        </p:spPr>
        <p:txBody>
          <a:bodyPr wrap="none" lIns="0" tIns="0" rIns="0" bIns="0" rtlCol="0" anchor="t"/>
          <a:lstStyle/>
          <a:p>
            <a:pPr marL="0" indent="0" algn="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Loss Without Detection</a:t>
            </a:r>
            <a:endParaRPr lang="en-US" sz="2000" dirty="0"/>
          </a:p>
        </p:txBody>
      </p:sp>
      <p:sp>
        <p:nvSpPr>
          <p:cNvPr id="8" name="Text 6"/>
          <p:cNvSpPr/>
          <p:nvPr/>
        </p:nvSpPr>
        <p:spPr>
          <a:xfrm>
            <a:off x="722828" y="2014895"/>
            <a:ext cx="5559623" cy="330517"/>
          </a:xfrm>
          <a:prstGeom prst="rect">
            <a:avLst/>
          </a:prstGeom>
          <a:noFill/>
          <a:ln/>
        </p:spPr>
        <p:txBody>
          <a:bodyPr wrap="none" lIns="0" tIns="0" rIns="0" bIns="0" rtlCol="0" anchor="t"/>
          <a:lstStyle/>
          <a:p>
            <a:pPr marL="0" indent="0" algn="r">
              <a:lnSpc>
                <a:spcPts val="2600"/>
              </a:lnSpc>
              <a:buNone/>
            </a:pPr>
            <a:r>
              <a:rPr lang="en-US" sz="1600" b="1" dirty="0">
                <a:solidFill>
                  <a:srgbClr val="921653"/>
                </a:solidFill>
                <a:latin typeface="Instrument Sans Medium" pitchFamily="34" charset="0"/>
                <a:ea typeface="Instrument Sans Medium" pitchFamily="34" charset="-122"/>
                <a:cs typeface="Instrument Sans Medium" pitchFamily="34" charset="-120"/>
              </a:rPr>
              <a:t>₹56.8M</a:t>
            </a:r>
            <a:r>
              <a:rPr lang="en-US" sz="1600" dirty="0">
                <a:solidFill>
                  <a:srgbClr val="1E3063"/>
                </a:solidFill>
                <a:latin typeface="Instrument Sans Medium" pitchFamily="34" charset="0"/>
                <a:ea typeface="Instrument Sans Medium" pitchFamily="34" charset="-122"/>
                <a:cs typeface="Instrument Sans Medium" pitchFamily="34" charset="-120"/>
              </a:rPr>
              <a:t> in total fraud losses if no system deployed</a:t>
            </a:r>
            <a:endParaRPr lang="en-US" sz="1600" dirty="0"/>
          </a:p>
        </p:txBody>
      </p:sp>
      <p:sp>
        <p:nvSpPr>
          <p:cNvPr id="9" name="Shape 7"/>
          <p:cNvSpPr/>
          <p:nvPr/>
        </p:nvSpPr>
        <p:spPr>
          <a:xfrm>
            <a:off x="7524690" y="2957393"/>
            <a:ext cx="619601" cy="22860"/>
          </a:xfrm>
          <a:prstGeom prst="roundRect">
            <a:avLst>
              <a:gd name="adj" fmla="val 813208"/>
            </a:avLst>
          </a:prstGeom>
          <a:solidFill>
            <a:srgbClr val="B4CCE3"/>
          </a:solidFill>
          <a:ln/>
        </p:spPr>
      </p:sp>
      <p:sp>
        <p:nvSpPr>
          <p:cNvPr id="10" name="Shape 8"/>
          <p:cNvSpPr/>
          <p:nvPr/>
        </p:nvSpPr>
        <p:spPr>
          <a:xfrm>
            <a:off x="7082850" y="2736533"/>
            <a:ext cx="464701" cy="464701"/>
          </a:xfrm>
          <a:prstGeom prst="roundRect">
            <a:avLst>
              <a:gd name="adj" fmla="val 40004"/>
            </a:avLst>
          </a:prstGeom>
          <a:solidFill>
            <a:srgbClr val="CEE6FD"/>
          </a:solidFill>
          <a:ln/>
        </p:spPr>
      </p:sp>
      <p:sp>
        <p:nvSpPr>
          <p:cNvPr id="11" name="Text 9"/>
          <p:cNvSpPr/>
          <p:nvPr/>
        </p:nvSpPr>
        <p:spPr>
          <a:xfrm>
            <a:off x="7160240" y="2775228"/>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2</a:t>
            </a:r>
            <a:endParaRPr lang="en-US" sz="2400" dirty="0"/>
          </a:p>
        </p:txBody>
      </p:sp>
      <p:sp>
        <p:nvSpPr>
          <p:cNvPr id="12" name="Text 10"/>
          <p:cNvSpPr/>
          <p:nvPr/>
        </p:nvSpPr>
        <p:spPr>
          <a:xfrm>
            <a:off x="8347948" y="2807494"/>
            <a:ext cx="2843332" cy="322778"/>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Loss With Model Active</a:t>
            </a:r>
            <a:endParaRPr lang="en-US" sz="2000" dirty="0"/>
          </a:p>
        </p:txBody>
      </p:sp>
      <p:sp>
        <p:nvSpPr>
          <p:cNvPr id="13" name="Text 11"/>
          <p:cNvSpPr/>
          <p:nvPr/>
        </p:nvSpPr>
        <p:spPr>
          <a:xfrm>
            <a:off x="8347948" y="3254097"/>
            <a:ext cx="5559623" cy="330517"/>
          </a:xfrm>
          <a:prstGeom prst="rect">
            <a:avLst/>
          </a:prstGeom>
          <a:noFill/>
          <a:ln/>
        </p:spPr>
        <p:txBody>
          <a:bodyPr wrap="none" lIns="0" tIns="0" rIns="0" bIns="0" rtlCol="0" anchor="t"/>
          <a:lstStyle/>
          <a:p>
            <a:pPr marL="0" indent="0" algn="l">
              <a:lnSpc>
                <a:spcPts val="2600"/>
              </a:lnSpc>
              <a:buNone/>
            </a:pPr>
            <a:r>
              <a:rPr lang="en-US" sz="1600" b="1" dirty="0">
                <a:solidFill>
                  <a:srgbClr val="FF5000"/>
                </a:solidFill>
                <a:latin typeface="Instrument Sans Medium" pitchFamily="34" charset="0"/>
                <a:ea typeface="Instrument Sans Medium" pitchFamily="34" charset="-122"/>
                <a:cs typeface="Instrument Sans Medium" pitchFamily="34" charset="-120"/>
              </a:rPr>
              <a:t>₹2.78M</a:t>
            </a:r>
            <a:r>
              <a:rPr lang="en-US" sz="1600" dirty="0">
                <a:solidFill>
                  <a:srgbClr val="1E3063"/>
                </a:solidFill>
                <a:latin typeface="Instrument Sans Medium" pitchFamily="34" charset="0"/>
                <a:ea typeface="Instrument Sans Medium" pitchFamily="34" charset="-122"/>
                <a:cs typeface="Instrument Sans Medium" pitchFamily="34" charset="-120"/>
              </a:rPr>
              <a:t> remaining losses (5% missed fraud)</a:t>
            </a:r>
            <a:endParaRPr lang="en-US" sz="1600" dirty="0"/>
          </a:p>
        </p:txBody>
      </p:sp>
      <p:sp>
        <p:nvSpPr>
          <p:cNvPr id="14" name="Shape 12"/>
          <p:cNvSpPr/>
          <p:nvPr/>
        </p:nvSpPr>
        <p:spPr>
          <a:xfrm>
            <a:off x="6486108" y="4025503"/>
            <a:ext cx="619601" cy="22860"/>
          </a:xfrm>
          <a:prstGeom prst="roundRect">
            <a:avLst>
              <a:gd name="adj" fmla="val 813208"/>
            </a:avLst>
          </a:prstGeom>
          <a:solidFill>
            <a:srgbClr val="B4CCE3"/>
          </a:solidFill>
          <a:ln/>
        </p:spPr>
      </p:sp>
      <p:sp>
        <p:nvSpPr>
          <p:cNvPr id="15" name="Shape 13"/>
          <p:cNvSpPr/>
          <p:nvPr/>
        </p:nvSpPr>
        <p:spPr>
          <a:xfrm>
            <a:off x="7082850" y="3804642"/>
            <a:ext cx="464701" cy="464701"/>
          </a:xfrm>
          <a:prstGeom prst="roundRect">
            <a:avLst>
              <a:gd name="adj" fmla="val 40004"/>
            </a:avLst>
          </a:prstGeom>
          <a:solidFill>
            <a:srgbClr val="CEE6FD"/>
          </a:solidFill>
          <a:ln/>
        </p:spPr>
      </p:sp>
      <p:sp>
        <p:nvSpPr>
          <p:cNvPr id="16" name="Text 14"/>
          <p:cNvSpPr/>
          <p:nvPr/>
        </p:nvSpPr>
        <p:spPr>
          <a:xfrm>
            <a:off x="7160240" y="3843337"/>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3</a:t>
            </a:r>
            <a:endParaRPr lang="en-US" sz="2400" dirty="0"/>
          </a:p>
        </p:txBody>
      </p:sp>
      <p:sp>
        <p:nvSpPr>
          <p:cNvPr id="17" name="Text 15"/>
          <p:cNvSpPr/>
          <p:nvPr/>
        </p:nvSpPr>
        <p:spPr>
          <a:xfrm>
            <a:off x="3197781" y="3875603"/>
            <a:ext cx="3084671" cy="322778"/>
          </a:xfrm>
          <a:prstGeom prst="rect">
            <a:avLst/>
          </a:prstGeom>
          <a:noFill/>
          <a:ln/>
        </p:spPr>
        <p:txBody>
          <a:bodyPr wrap="none" lIns="0" tIns="0" rIns="0" bIns="0" rtlCol="0" anchor="t"/>
          <a:lstStyle/>
          <a:p>
            <a:pPr marL="0" indent="0" algn="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Fraud Prevention Savings</a:t>
            </a:r>
            <a:endParaRPr lang="en-US" sz="2000" dirty="0"/>
          </a:p>
        </p:txBody>
      </p:sp>
      <p:sp>
        <p:nvSpPr>
          <p:cNvPr id="18" name="Text 16"/>
          <p:cNvSpPr/>
          <p:nvPr/>
        </p:nvSpPr>
        <p:spPr>
          <a:xfrm>
            <a:off x="722828" y="4322207"/>
            <a:ext cx="5559623" cy="330517"/>
          </a:xfrm>
          <a:prstGeom prst="rect">
            <a:avLst/>
          </a:prstGeom>
          <a:noFill/>
          <a:ln/>
        </p:spPr>
        <p:txBody>
          <a:bodyPr wrap="none" lIns="0" tIns="0" rIns="0" bIns="0" rtlCol="0" anchor="t"/>
          <a:lstStyle/>
          <a:p>
            <a:pPr marL="0" indent="0" algn="r">
              <a:lnSpc>
                <a:spcPts val="2600"/>
              </a:lnSpc>
              <a:buNone/>
            </a:pPr>
            <a:r>
              <a:rPr lang="en-US" sz="1600" b="1" dirty="0">
                <a:solidFill>
                  <a:srgbClr val="1A561C"/>
                </a:solidFill>
                <a:latin typeface="Instrument Sans Medium" pitchFamily="34" charset="0"/>
                <a:ea typeface="Instrument Sans Medium" pitchFamily="34" charset="-122"/>
                <a:cs typeface="Instrument Sans Medium" pitchFamily="34" charset="-120"/>
              </a:rPr>
              <a:t>₹54.05M</a:t>
            </a:r>
            <a:r>
              <a:rPr lang="en-US" sz="1600" dirty="0">
                <a:solidFill>
                  <a:srgbClr val="1E3063"/>
                </a:solidFill>
                <a:latin typeface="Instrument Sans Medium" pitchFamily="34" charset="0"/>
                <a:ea typeface="Instrument Sans Medium" pitchFamily="34" charset="-122"/>
                <a:cs typeface="Instrument Sans Medium" pitchFamily="34" charset="-120"/>
              </a:rPr>
              <a:t> in caught and prevented fraudulent transactions</a:t>
            </a:r>
            <a:endParaRPr lang="en-US" sz="1600" dirty="0"/>
          </a:p>
        </p:txBody>
      </p:sp>
      <p:sp>
        <p:nvSpPr>
          <p:cNvPr id="19" name="Shape 17"/>
          <p:cNvSpPr/>
          <p:nvPr/>
        </p:nvSpPr>
        <p:spPr>
          <a:xfrm>
            <a:off x="7524690" y="5093732"/>
            <a:ext cx="619601" cy="22860"/>
          </a:xfrm>
          <a:prstGeom prst="roundRect">
            <a:avLst>
              <a:gd name="adj" fmla="val 813208"/>
            </a:avLst>
          </a:prstGeom>
          <a:solidFill>
            <a:srgbClr val="B4CCE3"/>
          </a:solidFill>
          <a:ln/>
        </p:spPr>
      </p:sp>
      <p:sp>
        <p:nvSpPr>
          <p:cNvPr id="20" name="Shape 18"/>
          <p:cNvSpPr/>
          <p:nvPr/>
        </p:nvSpPr>
        <p:spPr>
          <a:xfrm>
            <a:off x="7082850" y="4872871"/>
            <a:ext cx="464701" cy="464701"/>
          </a:xfrm>
          <a:prstGeom prst="roundRect">
            <a:avLst>
              <a:gd name="adj" fmla="val 40004"/>
            </a:avLst>
          </a:prstGeom>
          <a:solidFill>
            <a:srgbClr val="CEE6FD"/>
          </a:solidFill>
          <a:ln/>
        </p:spPr>
      </p:sp>
      <p:sp>
        <p:nvSpPr>
          <p:cNvPr id="21" name="Text 19"/>
          <p:cNvSpPr/>
          <p:nvPr/>
        </p:nvSpPr>
        <p:spPr>
          <a:xfrm>
            <a:off x="7160240" y="4911566"/>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4</a:t>
            </a:r>
            <a:endParaRPr lang="en-US" sz="2400" dirty="0"/>
          </a:p>
        </p:txBody>
      </p:sp>
      <p:sp>
        <p:nvSpPr>
          <p:cNvPr id="22" name="Text 20"/>
          <p:cNvSpPr/>
          <p:nvPr/>
        </p:nvSpPr>
        <p:spPr>
          <a:xfrm>
            <a:off x="8347948" y="4943832"/>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Operational Costs</a:t>
            </a:r>
            <a:endParaRPr lang="en-US" sz="2000" dirty="0"/>
          </a:p>
        </p:txBody>
      </p:sp>
      <p:sp>
        <p:nvSpPr>
          <p:cNvPr id="23" name="Text 21"/>
          <p:cNvSpPr/>
          <p:nvPr/>
        </p:nvSpPr>
        <p:spPr>
          <a:xfrm>
            <a:off x="8347948" y="5390436"/>
            <a:ext cx="5559623" cy="330517"/>
          </a:xfrm>
          <a:prstGeom prst="rect">
            <a:avLst/>
          </a:prstGeom>
          <a:noFill/>
          <a:ln/>
        </p:spPr>
        <p:txBody>
          <a:bodyPr wrap="none" lIns="0" tIns="0" rIns="0" bIns="0" rtlCol="0" anchor="t"/>
          <a:lstStyle/>
          <a:p>
            <a:pPr marL="0" indent="0" algn="l">
              <a:lnSpc>
                <a:spcPts val="2600"/>
              </a:lnSpc>
              <a:buNone/>
            </a:pPr>
            <a:r>
              <a:rPr lang="en-US" sz="1600" b="1" dirty="0">
                <a:solidFill>
                  <a:srgbClr val="1E3063"/>
                </a:solidFill>
                <a:latin typeface="Instrument Sans Medium" pitchFamily="34" charset="0"/>
                <a:ea typeface="Instrument Sans Medium" pitchFamily="34" charset="-122"/>
                <a:cs typeface="Instrument Sans Medium" pitchFamily="34" charset="-120"/>
              </a:rPr>
              <a:t>₹27.4K</a:t>
            </a:r>
            <a:r>
              <a:rPr lang="en-US" sz="1600" dirty="0">
                <a:solidFill>
                  <a:srgbClr val="1E3063"/>
                </a:solidFill>
                <a:latin typeface="Instrument Sans Medium" pitchFamily="34" charset="0"/>
                <a:ea typeface="Instrument Sans Medium" pitchFamily="34" charset="-122"/>
                <a:cs typeface="Instrument Sans Medium" pitchFamily="34" charset="-120"/>
              </a:rPr>
              <a:t> annual cost for manual fraud review processes</a:t>
            </a:r>
            <a:endParaRPr lang="en-US" sz="1600" dirty="0"/>
          </a:p>
        </p:txBody>
      </p:sp>
      <p:sp>
        <p:nvSpPr>
          <p:cNvPr id="24" name="Shape 22"/>
          <p:cNvSpPr/>
          <p:nvPr/>
        </p:nvSpPr>
        <p:spPr>
          <a:xfrm>
            <a:off x="6486108" y="6161961"/>
            <a:ext cx="619601" cy="22860"/>
          </a:xfrm>
          <a:prstGeom prst="roundRect">
            <a:avLst>
              <a:gd name="adj" fmla="val 813208"/>
            </a:avLst>
          </a:prstGeom>
          <a:solidFill>
            <a:srgbClr val="B4CCE3"/>
          </a:solidFill>
          <a:ln/>
        </p:spPr>
      </p:sp>
      <p:sp>
        <p:nvSpPr>
          <p:cNvPr id="25" name="Shape 23"/>
          <p:cNvSpPr/>
          <p:nvPr/>
        </p:nvSpPr>
        <p:spPr>
          <a:xfrm>
            <a:off x="7082850" y="5941100"/>
            <a:ext cx="464701" cy="464701"/>
          </a:xfrm>
          <a:prstGeom prst="roundRect">
            <a:avLst>
              <a:gd name="adj" fmla="val 40004"/>
            </a:avLst>
          </a:prstGeom>
          <a:solidFill>
            <a:srgbClr val="CEE6FD"/>
          </a:solidFill>
          <a:ln/>
        </p:spPr>
      </p:sp>
      <p:sp>
        <p:nvSpPr>
          <p:cNvPr id="26" name="Text 24"/>
          <p:cNvSpPr/>
          <p:nvPr/>
        </p:nvSpPr>
        <p:spPr>
          <a:xfrm>
            <a:off x="7160240" y="5979795"/>
            <a:ext cx="309801" cy="387191"/>
          </a:xfrm>
          <a:prstGeom prst="rect">
            <a:avLst/>
          </a:prstGeom>
          <a:noFill/>
          <a:ln/>
        </p:spPr>
        <p:txBody>
          <a:bodyPr wrap="none" lIns="0" tIns="0" rIns="0" bIns="0" rtlCol="0" anchor="t"/>
          <a:lstStyle/>
          <a:p>
            <a:pPr marL="0" indent="0" algn="ctr">
              <a:lnSpc>
                <a:spcPts val="2400"/>
              </a:lnSpc>
              <a:buNone/>
            </a:pPr>
            <a:r>
              <a:rPr lang="en-US" sz="2400" dirty="0">
                <a:solidFill>
                  <a:srgbClr val="1E3063"/>
                </a:solidFill>
                <a:latin typeface="Instrument Sans Semi Bold" pitchFamily="34" charset="0"/>
                <a:ea typeface="Instrument Sans Semi Bold" pitchFamily="34" charset="-122"/>
                <a:cs typeface="Instrument Sans Semi Bold" pitchFamily="34" charset="-120"/>
              </a:rPr>
              <a:t>5</a:t>
            </a:r>
            <a:endParaRPr lang="en-US" sz="2400" dirty="0"/>
          </a:p>
        </p:txBody>
      </p:sp>
      <p:sp>
        <p:nvSpPr>
          <p:cNvPr id="27" name="Text 25"/>
          <p:cNvSpPr/>
          <p:nvPr/>
        </p:nvSpPr>
        <p:spPr>
          <a:xfrm>
            <a:off x="3700582" y="6012061"/>
            <a:ext cx="2581870" cy="322778"/>
          </a:xfrm>
          <a:prstGeom prst="rect">
            <a:avLst/>
          </a:prstGeom>
          <a:noFill/>
          <a:ln/>
        </p:spPr>
        <p:txBody>
          <a:bodyPr wrap="none" lIns="0" tIns="0" rIns="0" bIns="0" rtlCol="0" anchor="t"/>
          <a:lstStyle/>
          <a:p>
            <a:pPr marL="0" indent="0" algn="r">
              <a:lnSpc>
                <a:spcPts val="2500"/>
              </a:lnSpc>
              <a:buNone/>
            </a:pPr>
            <a:r>
              <a:rPr lang="en-US" sz="2000" dirty="0">
                <a:solidFill>
                  <a:srgbClr val="1E3063"/>
                </a:solidFill>
                <a:latin typeface="Instrument Sans Semi Bold" pitchFamily="34" charset="0"/>
                <a:ea typeface="Instrument Sans Semi Bold" pitchFamily="34" charset="-122"/>
                <a:cs typeface="Instrument Sans Semi Bold" pitchFamily="34" charset="-120"/>
              </a:rPr>
              <a:t>Net Annual Savings</a:t>
            </a:r>
            <a:endParaRPr lang="en-US" sz="2000" dirty="0"/>
          </a:p>
        </p:txBody>
      </p:sp>
      <p:sp>
        <p:nvSpPr>
          <p:cNvPr id="28" name="Text 26"/>
          <p:cNvSpPr/>
          <p:nvPr/>
        </p:nvSpPr>
        <p:spPr>
          <a:xfrm>
            <a:off x="722828" y="6458664"/>
            <a:ext cx="5559623" cy="330517"/>
          </a:xfrm>
          <a:prstGeom prst="rect">
            <a:avLst/>
          </a:prstGeom>
          <a:noFill/>
          <a:ln/>
        </p:spPr>
        <p:txBody>
          <a:bodyPr wrap="none" lIns="0" tIns="0" rIns="0" bIns="0" rtlCol="0" anchor="t"/>
          <a:lstStyle/>
          <a:p>
            <a:pPr marL="0" indent="0" algn="r">
              <a:lnSpc>
                <a:spcPts val="2600"/>
              </a:lnSpc>
              <a:buNone/>
            </a:pPr>
            <a:r>
              <a:rPr lang="en-US" sz="1600" b="1" dirty="0">
                <a:solidFill>
                  <a:srgbClr val="0540AD"/>
                </a:solidFill>
                <a:latin typeface="Instrument Sans Medium" pitchFamily="34" charset="0"/>
                <a:ea typeface="Instrument Sans Medium" pitchFamily="34" charset="-122"/>
                <a:cs typeface="Instrument Sans Medium" pitchFamily="34" charset="-120"/>
              </a:rPr>
              <a:t>₹51.25M</a:t>
            </a:r>
            <a:r>
              <a:rPr lang="en-US" sz="1600" dirty="0">
                <a:solidFill>
                  <a:srgbClr val="1E3063"/>
                </a:solidFill>
                <a:latin typeface="Instrument Sans Medium" pitchFamily="34" charset="0"/>
                <a:ea typeface="Instrument Sans Medium" pitchFamily="34" charset="-122"/>
                <a:cs typeface="Instrument Sans Medium" pitchFamily="34" charset="-120"/>
              </a:rPr>
              <a:t> in total protected value annually</a:t>
            </a:r>
            <a:endParaRPr lang="en-US" sz="1600" dirty="0"/>
          </a:p>
        </p:txBody>
      </p:sp>
      <p:sp>
        <p:nvSpPr>
          <p:cNvPr id="29" name="TextBox 28">
            <a:extLst>
              <a:ext uri="{FF2B5EF4-FFF2-40B4-BE49-F238E27FC236}">
                <a16:creationId xmlns:a16="http://schemas.microsoft.com/office/drawing/2014/main" id="{72C48C68-AEF2-1788-CC7D-F48CBD1A7B08}"/>
              </a:ext>
            </a:extLst>
          </p:cNvPr>
          <p:cNvSpPr txBox="1"/>
          <p:nvPr/>
        </p:nvSpPr>
        <p:spPr>
          <a:xfrm>
            <a:off x="12533971" y="7664529"/>
            <a:ext cx="2096429" cy="565071"/>
          </a:xfrm>
          <a:prstGeom prst="rect">
            <a:avLst/>
          </a:prstGeom>
          <a:solidFill>
            <a:schemeClr val="bg1"/>
          </a:solidFill>
        </p:spPr>
        <p:txBody>
          <a:bodyPr wrap="square" rtlCol="0">
            <a:spAutoFit/>
          </a:bodyPr>
          <a:lstStyle/>
          <a:p>
            <a:endParaRPr lang="en-IN" dirty="0"/>
          </a:p>
        </p:txBody>
      </p:sp>
      <p:grpSp>
        <p:nvGrpSpPr>
          <p:cNvPr id="30" name="Group 12">
            <a:extLst>
              <a:ext uri="{FF2B5EF4-FFF2-40B4-BE49-F238E27FC236}">
                <a16:creationId xmlns:a16="http://schemas.microsoft.com/office/drawing/2014/main" id="{4F4B8C40-B87B-28EC-43F8-530F01CCBF92}"/>
              </a:ext>
            </a:extLst>
          </p:cNvPr>
          <p:cNvGrpSpPr>
            <a:grpSpLocks noChangeAspect="1"/>
          </p:cNvGrpSpPr>
          <p:nvPr/>
        </p:nvGrpSpPr>
        <p:grpSpPr>
          <a:xfrm>
            <a:off x="12533971" y="7623565"/>
            <a:ext cx="1989628" cy="540841"/>
            <a:chOff x="0" y="0"/>
            <a:chExt cx="4038678" cy="1097834"/>
          </a:xfrm>
        </p:grpSpPr>
        <p:sp>
          <p:nvSpPr>
            <p:cNvPr id="31" name="Freeform 13" descr="Top Ranked Data Science Institute, Classroom Plus Online Training | Boston  Institute of Analytics">
              <a:extLst>
                <a:ext uri="{FF2B5EF4-FFF2-40B4-BE49-F238E27FC236}">
                  <a16:creationId xmlns:a16="http://schemas.microsoft.com/office/drawing/2014/main" id="{89C523E6-0216-61D4-CBD3-9285DC5715A0}"/>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32" name="TextBox 11">
            <a:extLst>
              <a:ext uri="{FF2B5EF4-FFF2-40B4-BE49-F238E27FC236}">
                <a16:creationId xmlns:a16="http://schemas.microsoft.com/office/drawing/2014/main" id="{CF46E0CB-31CD-12E9-7823-0A1E77262F1C}"/>
              </a:ext>
            </a:extLst>
          </p:cNvPr>
          <p:cNvSpPr txBox="1"/>
          <p:nvPr/>
        </p:nvSpPr>
        <p:spPr>
          <a:xfrm>
            <a:off x="328890" y="7609415"/>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466368" y="584478"/>
            <a:ext cx="8211264" cy="832723"/>
          </a:xfrm>
          <a:prstGeom prst="rect">
            <a:avLst/>
          </a:prstGeom>
          <a:noFill/>
          <a:ln/>
        </p:spPr>
        <p:txBody>
          <a:bodyPr wrap="square" lIns="0" tIns="0" rIns="0" bIns="0" rtlCol="0" anchor="t"/>
          <a:lstStyle/>
          <a:p>
            <a:pPr marL="0" indent="0" algn="l">
              <a:lnSpc>
                <a:spcPts val="3250"/>
              </a:lnSpc>
              <a:buNone/>
            </a:pPr>
            <a:r>
              <a:rPr lang="en-US" sz="2600" dirty="0">
                <a:solidFill>
                  <a:srgbClr val="000000"/>
                </a:solidFill>
                <a:latin typeface="Instrument Sans Semi Bold" pitchFamily="34" charset="0"/>
                <a:ea typeface="Instrument Sans Semi Bold" pitchFamily="34" charset="-122"/>
                <a:cs typeface="Instrument Sans Semi Bold" pitchFamily="34" charset="-120"/>
              </a:rPr>
              <a:t>✅</a:t>
            </a:r>
            <a:r>
              <a:rPr lang="en-US" sz="2600" dirty="0">
                <a:solidFill>
                  <a:srgbClr val="091C53"/>
                </a:solidFill>
                <a:latin typeface="Instrument Sans Semi Bold" pitchFamily="34" charset="0"/>
                <a:ea typeface="Instrument Sans Semi Bold" pitchFamily="34" charset="-122"/>
                <a:cs typeface="Instrument Sans Semi Bold" pitchFamily="34" charset="-120"/>
              </a:rPr>
              <a:t> Conclusion: A Business-Ready Fraud Detection Solution</a:t>
            </a:r>
            <a:endParaRPr lang="en-US" sz="2600" dirty="0"/>
          </a:p>
        </p:txBody>
      </p:sp>
      <p:sp>
        <p:nvSpPr>
          <p:cNvPr id="4" name="Shape 1"/>
          <p:cNvSpPr/>
          <p:nvPr/>
        </p:nvSpPr>
        <p:spPr>
          <a:xfrm>
            <a:off x="466368" y="1616988"/>
            <a:ext cx="8211264" cy="1300520"/>
          </a:xfrm>
          <a:prstGeom prst="roundRect">
            <a:avLst>
              <a:gd name="adj" fmla="val 9221"/>
            </a:avLst>
          </a:prstGeom>
          <a:solidFill>
            <a:srgbClr val="CEE6FD"/>
          </a:solidFill>
          <a:ln/>
        </p:spPr>
        <p:txBody>
          <a:bodyPr/>
          <a:lstStyle/>
          <a:p>
            <a:endParaRPr lang="en-IN" dirty="0"/>
          </a:p>
        </p:txBody>
      </p:sp>
      <p:sp>
        <p:nvSpPr>
          <p:cNvPr id="5" name="Shape 2"/>
          <p:cNvSpPr/>
          <p:nvPr/>
        </p:nvSpPr>
        <p:spPr>
          <a:xfrm>
            <a:off x="599599" y="1750219"/>
            <a:ext cx="399693" cy="399693"/>
          </a:xfrm>
          <a:prstGeom prst="roundRect">
            <a:avLst>
              <a:gd name="adj" fmla="val 22875271"/>
            </a:avLst>
          </a:prstGeom>
          <a:solidFill>
            <a:srgbClr val="84C1FA"/>
          </a:solidFill>
          <a:ln/>
        </p:spPr>
      </p:sp>
      <p:pic>
        <p:nvPicPr>
          <p:cNvPr id="6" name="Image 1" descr="preencoded.png"/>
          <p:cNvPicPr>
            <a:picLocks noChangeAspect="1"/>
          </p:cNvPicPr>
          <p:nvPr/>
        </p:nvPicPr>
        <p:blipFill>
          <a:blip r:embed="rId4"/>
          <a:stretch>
            <a:fillRect/>
          </a:stretch>
        </p:blipFill>
        <p:spPr>
          <a:xfrm>
            <a:off x="709493" y="1837611"/>
            <a:ext cx="179784" cy="224790"/>
          </a:xfrm>
          <a:prstGeom prst="rect">
            <a:avLst/>
          </a:prstGeom>
        </p:spPr>
      </p:pic>
      <p:sp>
        <p:nvSpPr>
          <p:cNvPr id="7" name="Text 3"/>
          <p:cNvSpPr/>
          <p:nvPr/>
        </p:nvSpPr>
        <p:spPr>
          <a:xfrm>
            <a:off x="1132523" y="1874712"/>
            <a:ext cx="2915226" cy="275200"/>
          </a:xfrm>
          <a:prstGeom prst="rect">
            <a:avLst/>
          </a:prstGeom>
          <a:noFill/>
          <a:ln/>
        </p:spPr>
        <p:txBody>
          <a:bodyPr wrap="none" lIns="0" tIns="0" rIns="0" bIns="0" rtlCol="0" anchor="t"/>
          <a:lstStyle/>
          <a:p>
            <a:pPr marL="0" indent="0" algn="l">
              <a:lnSpc>
                <a:spcPts val="16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Highly Reliable Performance</a:t>
            </a:r>
            <a:endParaRPr lang="en-US" sz="1600" dirty="0"/>
          </a:p>
        </p:txBody>
      </p:sp>
      <p:sp>
        <p:nvSpPr>
          <p:cNvPr id="8" name="Text 4"/>
          <p:cNvSpPr/>
          <p:nvPr/>
        </p:nvSpPr>
        <p:spPr>
          <a:xfrm>
            <a:off x="732830" y="2310850"/>
            <a:ext cx="7944802" cy="650414"/>
          </a:xfrm>
          <a:prstGeom prst="rect">
            <a:avLst/>
          </a:prstGeom>
          <a:noFill/>
          <a:ln/>
        </p:spPr>
        <p:txBody>
          <a:bodyPr wrap="none" lIns="0" tIns="0" rIns="0" bIns="0" rtlCol="0" anchor="t"/>
          <a:lstStyle/>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The model delivers exceptional accuracy with </a:t>
            </a:r>
            <a:r>
              <a:rPr lang="en-US" sz="1400" b="1" dirty="0">
                <a:solidFill>
                  <a:srgbClr val="1E3063"/>
                </a:solidFill>
                <a:latin typeface="Instrument Sans Medium" pitchFamily="34" charset="0"/>
                <a:ea typeface="Instrument Sans Medium" pitchFamily="34" charset="-122"/>
                <a:cs typeface="Instrument Sans Medium" pitchFamily="34" charset="-120"/>
              </a:rPr>
              <a:t>95% Recall</a:t>
            </a:r>
            <a:r>
              <a:rPr lang="en-US" sz="1400" dirty="0">
                <a:solidFill>
                  <a:srgbClr val="1E3063"/>
                </a:solidFill>
                <a:latin typeface="Instrument Sans Medium" pitchFamily="34" charset="0"/>
                <a:ea typeface="Instrument Sans Medium" pitchFamily="34" charset="-122"/>
                <a:cs typeface="Instrument Sans Medium" pitchFamily="34" charset="-120"/>
              </a:rPr>
              <a:t> and </a:t>
            </a:r>
            <a:r>
              <a:rPr lang="en-US" sz="1400" b="1" dirty="0">
                <a:solidFill>
                  <a:srgbClr val="1E3063"/>
                </a:solidFill>
                <a:latin typeface="Instrument Sans Medium" pitchFamily="34" charset="0"/>
                <a:ea typeface="Instrument Sans Medium" pitchFamily="34" charset="-122"/>
                <a:cs typeface="Instrument Sans Medium" pitchFamily="34" charset="-120"/>
              </a:rPr>
              <a:t>99% Precision</a:t>
            </a:r>
            <a:r>
              <a:rPr lang="en-US" sz="1400" dirty="0">
                <a:solidFill>
                  <a:srgbClr val="1E3063"/>
                </a:solidFill>
                <a:latin typeface="Instrument Sans Medium" pitchFamily="34" charset="0"/>
                <a:ea typeface="Instrument Sans Medium" pitchFamily="34" charset="-122"/>
                <a:cs typeface="Instrument Sans Medium" pitchFamily="34" charset="-120"/>
              </a:rPr>
              <a:t>, ensuring</a:t>
            </a:r>
          </a:p>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    robust fraud detection you can trust.</a:t>
            </a:r>
            <a:endParaRPr lang="en-US" sz="1400" dirty="0"/>
          </a:p>
        </p:txBody>
      </p:sp>
      <p:sp>
        <p:nvSpPr>
          <p:cNvPr id="9" name="Shape 5"/>
          <p:cNvSpPr/>
          <p:nvPr/>
        </p:nvSpPr>
        <p:spPr>
          <a:xfrm>
            <a:off x="466368" y="2982103"/>
            <a:ext cx="8211264" cy="1513642"/>
          </a:xfrm>
          <a:prstGeom prst="roundRect">
            <a:avLst>
              <a:gd name="adj" fmla="val 7923"/>
            </a:avLst>
          </a:prstGeom>
          <a:solidFill>
            <a:srgbClr val="CEE6FD"/>
          </a:solidFill>
          <a:ln/>
        </p:spPr>
      </p:sp>
      <p:sp>
        <p:nvSpPr>
          <p:cNvPr id="10" name="Shape 6"/>
          <p:cNvSpPr/>
          <p:nvPr/>
        </p:nvSpPr>
        <p:spPr>
          <a:xfrm>
            <a:off x="599599" y="3183969"/>
            <a:ext cx="399693" cy="399693"/>
          </a:xfrm>
          <a:prstGeom prst="roundRect">
            <a:avLst>
              <a:gd name="adj" fmla="val 22875271"/>
            </a:avLst>
          </a:prstGeom>
          <a:solidFill>
            <a:srgbClr val="84C1FA"/>
          </a:solidFill>
          <a:ln/>
        </p:spPr>
      </p:sp>
      <p:pic>
        <p:nvPicPr>
          <p:cNvPr id="11" name="Image 2" descr="preencoded.png"/>
          <p:cNvPicPr>
            <a:picLocks noChangeAspect="1"/>
          </p:cNvPicPr>
          <p:nvPr/>
        </p:nvPicPr>
        <p:blipFill>
          <a:blip r:embed="rId5"/>
          <a:stretch>
            <a:fillRect/>
          </a:stretch>
        </p:blipFill>
        <p:spPr>
          <a:xfrm>
            <a:off x="709493" y="3271361"/>
            <a:ext cx="179784" cy="224790"/>
          </a:xfrm>
          <a:prstGeom prst="rect">
            <a:avLst/>
          </a:prstGeom>
        </p:spPr>
      </p:pic>
      <p:sp>
        <p:nvSpPr>
          <p:cNvPr id="12" name="Text 7"/>
          <p:cNvSpPr/>
          <p:nvPr/>
        </p:nvSpPr>
        <p:spPr>
          <a:xfrm>
            <a:off x="1132523" y="3288030"/>
            <a:ext cx="3161705" cy="208121"/>
          </a:xfrm>
          <a:prstGeom prst="rect">
            <a:avLst/>
          </a:prstGeom>
          <a:noFill/>
          <a:ln/>
        </p:spPr>
        <p:txBody>
          <a:bodyPr wrap="none" lIns="0" tIns="0" rIns="0" bIns="0" rtlCol="0" anchor="t"/>
          <a:lstStyle/>
          <a:p>
            <a:pPr marL="0" indent="0" algn="l">
              <a:lnSpc>
                <a:spcPts val="16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Maximum Detection, Minimal Disruption</a:t>
            </a:r>
            <a:endParaRPr lang="en-US" sz="1600" dirty="0"/>
          </a:p>
        </p:txBody>
      </p:sp>
      <p:sp>
        <p:nvSpPr>
          <p:cNvPr id="13" name="Text 8"/>
          <p:cNvSpPr/>
          <p:nvPr/>
        </p:nvSpPr>
        <p:spPr>
          <a:xfrm>
            <a:off x="861599" y="3881259"/>
            <a:ext cx="7944802" cy="426244"/>
          </a:xfrm>
          <a:prstGeom prst="rect">
            <a:avLst/>
          </a:prstGeom>
          <a:noFill/>
          <a:ln/>
        </p:spPr>
        <p:txBody>
          <a:bodyPr wrap="square" lIns="0" tIns="0" rIns="0" bIns="0" rtlCol="0" anchor="t"/>
          <a:lstStyle/>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Most fraudulent transactions are caught early, while maintaining very few false positives to preserve excellent customer experience.</a:t>
            </a:r>
            <a:endParaRPr lang="en-US" sz="1400" dirty="0"/>
          </a:p>
        </p:txBody>
      </p:sp>
      <p:sp>
        <p:nvSpPr>
          <p:cNvPr id="14" name="Shape 9"/>
          <p:cNvSpPr/>
          <p:nvPr/>
        </p:nvSpPr>
        <p:spPr>
          <a:xfrm>
            <a:off x="466368" y="4595623"/>
            <a:ext cx="8211264" cy="1300520"/>
          </a:xfrm>
          <a:prstGeom prst="roundRect">
            <a:avLst>
              <a:gd name="adj" fmla="val 9221"/>
            </a:avLst>
          </a:prstGeom>
          <a:solidFill>
            <a:srgbClr val="CEE6FD"/>
          </a:solidFill>
          <a:ln/>
        </p:spPr>
        <p:txBody>
          <a:bodyPr/>
          <a:lstStyle/>
          <a:p>
            <a:endParaRPr lang="en-IN" dirty="0"/>
          </a:p>
        </p:txBody>
      </p:sp>
      <p:sp>
        <p:nvSpPr>
          <p:cNvPr id="15" name="Shape 10"/>
          <p:cNvSpPr/>
          <p:nvPr/>
        </p:nvSpPr>
        <p:spPr>
          <a:xfrm>
            <a:off x="599599" y="4830842"/>
            <a:ext cx="399693" cy="399693"/>
          </a:xfrm>
          <a:prstGeom prst="roundRect">
            <a:avLst>
              <a:gd name="adj" fmla="val 22875271"/>
            </a:avLst>
          </a:prstGeom>
          <a:solidFill>
            <a:srgbClr val="84C1FA"/>
          </a:solidFill>
          <a:ln/>
        </p:spPr>
      </p:sp>
      <p:pic>
        <p:nvPicPr>
          <p:cNvPr id="16" name="Image 3" descr="preencoded.png"/>
          <p:cNvPicPr>
            <a:picLocks noChangeAspect="1"/>
          </p:cNvPicPr>
          <p:nvPr/>
        </p:nvPicPr>
        <p:blipFill>
          <a:blip r:embed="rId6"/>
          <a:stretch>
            <a:fillRect/>
          </a:stretch>
        </p:blipFill>
        <p:spPr>
          <a:xfrm>
            <a:off x="709493" y="4918234"/>
            <a:ext cx="179784" cy="224790"/>
          </a:xfrm>
          <a:prstGeom prst="rect">
            <a:avLst/>
          </a:prstGeom>
        </p:spPr>
      </p:pic>
      <p:sp>
        <p:nvSpPr>
          <p:cNvPr id="17" name="Text 11"/>
          <p:cNvSpPr/>
          <p:nvPr/>
        </p:nvSpPr>
        <p:spPr>
          <a:xfrm>
            <a:off x="1191340" y="4966146"/>
            <a:ext cx="2386251" cy="208121"/>
          </a:xfrm>
          <a:prstGeom prst="rect">
            <a:avLst/>
          </a:prstGeom>
          <a:noFill/>
          <a:ln/>
        </p:spPr>
        <p:txBody>
          <a:bodyPr wrap="none" lIns="0" tIns="0" rIns="0" bIns="0" rtlCol="0" anchor="t"/>
          <a:lstStyle/>
          <a:p>
            <a:pPr marL="0" indent="0" algn="l">
              <a:lnSpc>
                <a:spcPts val="16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Prevents ~95% of Fraud Losses</a:t>
            </a:r>
            <a:endParaRPr lang="en-US" sz="1600" dirty="0"/>
          </a:p>
        </p:txBody>
      </p:sp>
      <p:sp>
        <p:nvSpPr>
          <p:cNvPr id="18" name="Text 12"/>
          <p:cNvSpPr/>
          <p:nvPr/>
        </p:nvSpPr>
        <p:spPr>
          <a:xfrm>
            <a:off x="889277" y="5354232"/>
            <a:ext cx="7944802" cy="588645"/>
          </a:xfrm>
          <a:prstGeom prst="rect">
            <a:avLst/>
          </a:prstGeom>
          <a:noFill/>
          <a:ln/>
        </p:spPr>
        <p:txBody>
          <a:bodyPr wrap="none" lIns="0" tIns="0" rIns="0" bIns="0" rtlCol="0" anchor="t"/>
          <a:lstStyle/>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In mobile transactions, our solution stops the vast majority of potential fraud losses before they</a:t>
            </a:r>
          </a:p>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 impact your bottom line.</a:t>
            </a:r>
            <a:endParaRPr lang="en-US" sz="1400" dirty="0"/>
          </a:p>
        </p:txBody>
      </p:sp>
      <p:sp>
        <p:nvSpPr>
          <p:cNvPr id="19" name="Shape 13"/>
          <p:cNvSpPr/>
          <p:nvPr/>
        </p:nvSpPr>
        <p:spPr>
          <a:xfrm>
            <a:off x="466368" y="6006007"/>
            <a:ext cx="8211264" cy="1513642"/>
          </a:xfrm>
          <a:prstGeom prst="roundRect">
            <a:avLst>
              <a:gd name="adj" fmla="val 7923"/>
            </a:avLst>
          </a:prstGeom>
          <a:solidFill>
            <a:srgbClr val="CEE6FD"/>
          </a:solidFill>
          <a:ln/>
        </p:spPr>
      </p:sp>
      <p:sp>
        <p:nvSpPr>
          <p:cNvPr id="20" name="Shape 14"/>
          <p:cNvSpPr/>
          <p:nvPr/>
        </p:nvSpPr>
        <p:spPr>
          <a:xfrm>
            <a:off x="599599" y="6264593"/>
            <a:ext cx="399693" cy="399693"/>
          </a:xfrm>
          <a:prstGeom prst="roundRect">
            <a:avLst>
              <a:gd name="adj" fmla="val 22875271"/>
            </a:avLst>
          </a:prstGeom>
          <a:solidFill>
            <a:srgbClr val="84C1FA"/>
          </a:solidFill>
          <a:ln/>
        </p:spPr>
      </p:sp>
      <p:pic>
        <p:nvPicPr>
          <p:cNvPr id="21" name="Image 4" descr="preencoded.png"/>
          <p:cNvPicPr>
            <a:picLocks noChangeAspect="1"/>
          </p:cNvPicPr>
          <p:nvPr/>
        </p:nvPicPr>
        <p:blipFill>
          <a:blip r:embed="rId7"/>
          <a:stretch>
            <a:fillRect/>
          </a:stretch>
        </p:blipFill>
        <p:spPr>
          <a:xfrm>
            <a:off x="709493" y="6351984"/>
            <a:ext cx="179784" cy="224790"/>
          </a:xfrm>
          <a:prstGeom prst="rect">
            <a:avLst/>
          </a:prstGeom>
        </p:spPr>
      </p:pic>
      <p:sp>
        <p:nvSpPr>
          <p:cNvPr id="22" name="Text 15"/>
          <p:cNvSpPr/>
          <p:nvPr/>
        </p:nvSpPr>
        <p:spPr>
          <a:xfrm>
            <a:off x="1191340" y="6400324"/>
            <a:ext cx="1940123" cy="208121"/>
          </a:xfrm>
          <a:prstGeom prst="rect">
            <a:avLst/>
          </a:prstGeom>
          <a:noFill/>
          <a:ln/>
        </p:spPr>
        <p:txBody>
          <a:bodyPr wrap="none" lIns="0" tIns="0" rIns="0" bIns="0" rtlCol="0" anchor="t"/>
          <a:lstStyle/>
          <a:p>
            <a:pPr marL="0" indent="0" algn="l">
              <a:lnSpc>
                <a:spcPts val="160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Business-Ready Solution</a:t>
            </a:r>
            <a:endParaRPr lang="en-US" sz="1600" dirty="0"/>
          </a:p>
        </p:txBody>
      </p:sp>
      <p:sp>
        <p:nvSpPr>
          <p:cNvPr id="23" name="Text 16"/>
          <p:cNvSpPr/>
          <p:nvPr/>
        </p:nvSpPr>
        <p:spPr>
          <a:xfrm>
            <a:off x="732830" y="6864895"/>
            <a:ext cx="7944802" cy="426244"/>
          </a:xfrm>
          <a:prstGeom prst="rect">
            <a:avLst/>
          </a:prstGeom>
          <a:noFill/>
          <a:ln/>
        </p:spPr>
        <p:txBody>
          <a:bodyPr wrap="square" lIns="0" tIns="0" rIns="0" bIns="0" rtlCol="0" anchor="t"/>
          <a:lstStyle/>
          <a:p>
            <a:pPr marL="0" indent="0" algn="l">
              <a:lnSpc>
                <a:spcPts val="16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 proven system that strikes the perfect balance between aggressive fraud detection and maintaining seamless customer experience.</a:t>
            </a:r>
            <a:endParaRPr lang="en-US" sz="1400" dirty="0"/>
          </a:p>
        </p:txBody>
      </p:sp>
      <p:grpSp>
        <p:nvGrpSpPr>
          <p:cNvPr id="24" name="Group 12">
            <a:extLst>
              <a:ext uri="{FF2B5EF4-FFF2-40B4-BE49-F238E27FC236}">
                <a16:creationId xmlns:a16="http://schemas.microsoft.com/office/drawing/2014/main" id="{39123ACC-E303-D7FE-9365-AB40DF466408}"/>
              </a:ext>
            </a:extLst>
          </p:cNvPr>
          <p:cNvGrpSpPr>
            <a:grpSpLocks noChangeAspect="1"/>
          </p:cNvGrpSpPr>
          <p:nvPr/>
        </p:nvGrpSpPr>
        <p:grpSpPr>
          <a:xfrm>
            <a:off x="12155387" y="7511772"/>
            <a:ext cx="2352083" cy="639367"/>
            <a:chOff x="0" y="0"/>
            <a:chExt cx="4038678" cy="1097834"/>
          </a:xfrm>
        </p:grpSpPr>
        <p:sp>
          <p:nvSpPr>
            <p:cNvPr id="25" name="Freeform 13" descr="Top Ranked Data Science Institute, Classroom Plus Online Training | Boston  Institute of Analytics">
              <a:extLst>
                <a:ext uri="{FF2B5EF4-FFF2-40B4-BE49-F238E27FC236}">
                  <a16:creationId xmlns:a16="http://schemas.microsoft.com/office/drawing/2014/main" id="{17DFC522-DF0E-C5C1-E9CD-8C862AF33A1B}"/>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8"/>
              <a:stretch>
                <a:fillRect l="-4316" r="-3590" b="-4"/>
              </a:stretch>
            </a:blipFill>
          </p:spPr>
        </p:sp>
      </p:grpSp>
      <p:sp>
        <p:nvSpPr>
          <p:cNvPr id="26" name="TextBox 11">
            <a:extLst>
              <a:ext uri="{FF2B5EF4-FFF2-40B4-BE49-F238E27FC236}">
                <a16:creationId xmlns:a16="http://schemas.microsoft.com/office/drawing/2014/main" id="{CDD54AB8-1346-E8ED-5389-CCA3C67692CB}"/>
              </a:ext>
            </a:extLst>
          </p:cNvPr>
          <p:cNvSpPr txBox="1"/>
          <p:nvPr/>
        </p:nvSpPr>
        <p:spPr>
          <a:xfrm>
            <a:off x="154833" y="7676247"/>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CDEBCD-CE7B-C496-C104-CC1ED1300162}"/>
              </a:ext>
            </a:extLst>
          </p:cNvPr>
          <p:cNvSpPr txBox="1"/>
          <p:nvPr/>
        </p:nvSpPr>
        <p:spPr>
          <a:xfrm>
            <a:off x="12701239" y="7716644"/>
            <a:ext cx="1929161" cy="434897"/>
          </a:xfrm>
          <a:prstGeom prst="rect">
            <a:avLst/>
          </a:prstGeom>
          <a:solidFill>
            <a:schemeClr val="bg1"/>
          </a:solidFill>
        </p:spPr>
        <p:txBody>
          <a:bodyPr wrap="square" rtlCol="0">
            <a:spAutoFit/>
          </a:bodyPr>
          <a:lstStyle/>
          <a:p>
            <a:endParaRPr lang="en-IN" dirty="0"/>
          </a:p>
        </p:txBody>
      </p:sp>
      <p:pic>
        <p:nvPicPr>
          <p:cNvPr id="5" name="Picture 4">
            <a:extLst>
              <a:ext uri="{FF2B5EF4-FFF2-40B4-BE49-F238E27FC236}">
                <a16:creationId xmlns:a16="http://schemas.microsoft.com/office/drawing/2014/main" id="{03020023-041B-7030-7E46-A278B70BA8F1}"/>
              </a:ext>
            </a:extLst>
          </p:cNvPr>
          <p:cNvPicPr>
            <a:picLocks noChangeAspect="1"/>
          </p:cNvPicPr>
          <p:nvPr/>
        </p:nvPicPr>
        <p:blipFill>
          <a:blip r:embed="rId2"/>
          <a:stretch>
            <a:fillRect/>
          </a:stretch>
        </p:blipFill>
        <p:spPr>
          <a:xfrm>
            <a:off x="0" y="0"/>
            <a:ext cx="14630400" cy="8229600"/>
          </a:xfrm>
          <a:prstGeom prst="rect">
            <a:avLst/>
          </a:prstGeom>
        </p:spPr>
      </p:pic>
      <p:sp>
        <p:nvSpPr>
          <p:cNvPr id="6" name="TextBox 5">
            <a:extLst>
              <a:ext uri="{FF2B5EF4-FFF2-40B4-BE49-F238E27FC236}">
                <a16:creationId xmlns:a16="http://schemas.microsoft.com/office/drawing/2014/main" id="{584EB65B-DA01-7671-85CB-A10285845150}"/>
              </a:ext>
            </a:extLst>
          </p:cNvPr>
          <p:cNvSpPr txBox="1"/>
          <p:nvPr/>
        </p:nvSpPr>
        <p:spPr>
          <a:xfrm>
            <a:off x="13124985" y="7973122"/>
            <a:ext cx="1014761" cy="369332"/>
          </a:xfrm>
          <a:prstGeom prst="rect">
            <a:avLst/>
          </a:prstGeom>
          <a:noFill/>
        </p:spPr>
        <p:txBody>
          <a:bodyPr wrap="square" rtlCol="0">
            <a:spAutoFit/>
          </a:bodyPr>
          <a:lstStyle/>
          <a:p>
            <a:endParaRPr lang="en-IN" dirty="0"/>
          </a:p>
        </p:txBody>
      </p:sp>
      <p:sp>
        <p:nvSpPr>
          <p:cNvPr id="9" name="TextBox 8">
            <a:extLst>
              <a:ext uri="{FF2B5EF4-FFF2-40B4-BE49-F238E27FC236}">
                <a16:creationId xmlns:a16="http://schemas.microsoft.com/office/drawing/2014/main" id="{2EC2D10E-DE31-18E5-68F8-3368DB6CF366}"/>
              </a:ext>
            </a:extLst>
          </p:cNvPr>
          <p:cNvSpPr txBox="1"/>
          <p:nvPr/>
        </p:nvSpPr>
        <p:spPr>
          <a:xfrm>
            <a:off x="13013473" y="7716644"/>
            <a:ext cx="1616927" cy="434897"/>
          </a:xfrm>
          <a:prstGeom prst="rect">
            <a:avLst/>
          </a:prstGeom>
          <a:solidFill>
            <a:schemeClr val="bg1"/>
          </a:solidFill>
        </p:spPr>
        <p:txBody>
          <a:bodyPr wrap="square" rtlCol="0">
            <a:spAutoFit/>
          </a:bodyPr>
          <a:lstStyle/>
          <a:p>
            <a:endParaRPr lang="en-IN" dirty="0"/>
          </a:p>
        </p:txBody>
      </p:sp>
      <p:grpSp>
        <p:nvGrpSpPr>
          <p:cNvPr id="10" name="Group 12">
            <a:extLst>
              <a:ext uri="{FF2B5EF4-FFF2-40B4-BE49-F238E27FC236}">
                <a16:creationId xmlns:a16="http://schemas.microsoft.com/office/drawing/2014/main" id="{AB2E2496-7C72-61A9-0E4B-E1CF43EAC0CA}"/>
              </a:ext>
            </a:extLst>
          </p:cNvPr>
          <p:cNvGrpSpPr>
            <a:grpSpLocks noChangeAspect="1"/>
          </p:cNvGrpSpPr>
          <p:nvPr/>
        </p:nvGrpSpPr>
        <p:grpSpPr>
          <a:xfrm>
            <a:off x="12564858" y="7623408"/>
            <a:ext cx="1942878" cy="528133"/>
            <a:chOff x="0" y="0"/>
            <a:chExt cx="4038678" cy="1097834"/>
          </a:xfrm>
        </p:grpSpPr>
        <p:sp>
          <p:nvSpPr>
            <p:cNvPr id="11" name="Freeform 13" descr="Top Ranked Data Science Institute, Classroom Plus Online Training | Boston  Institute of Analytics">
              <a:extLst>
                <a:ext uri="{FF2B5EF4-FFF2-40B4-BE49-F238E27FC236}">
                  <a16:creationId xmlns:a16="http://schemas.microsoft.com/office/drawing/2014/main" id="{EAD6327D-6F51-6BE4-D407-44078F9D6A80}"/>
                </a:ext>
              </a:extLst>
            </p:cNvPr>
            <p:cNvSpPr/>
            <p:nvPr/>
          </p:nvSpPr>
          <p:spPr>
            <a:xfrm>
              <a:off x="0" y="0"/>
              <a:ext cx="4038727" cy="1097788"/>
            </a:xfrm>
            <a:custGeom>
              <a:avLst/>
              <a:gdLst/>
              <a:ahLst/>
              <a:cxnLst/>
              <a:rect l="l" t="t" r="r" b="b"/>
              <a:pathLst>
                <a:path w="4038727" h="1097788">
                  <a:moveTo>
                    <a:pt x="0" y="0"/>
                  </a:moveTo>
                  <a:lnTo>
                    <a:pt x="4038727" y="0"/>
                  </a:lnTo>
                  <a:lnTo>
                    <a:pt x="4038727" y="1097788"/>
                  </a:lnTo>
                  <a:lnTo>
                    <a:pt x="0" y="1097788"/>
                  </a:lnTo>
                  <a:lnTo>
                    <a:pt x="0" y="0"/>
                  </a:lnTo>
                  <a:close/>
                </a:path>
              </a:pathLst>
            </a:custGeom>
            <a:blipFill>
              <a:blip r:embed="rId3"/>
              <a:stretch>
                <a:fillRect l="-4316" r="-3590" b="-4"/>
              </a:stretch>
            </a:blipFill>
          </p:spPr>
        </p:sp>
      </p:grpSp>
      <p:sp>
        <p:nvSpPr>
          <p:cNvPr id="16" name="TextBox 11">
            <a:extLst>
              <a:ext uri="{FF2B5EF4-FFF2-40B4-BE49-F238E27FC236}">
                <a16:creationId xmlns:a16="http://schemas.microsoft.com/office/drawing/2014/main" id="{B7C33C88-8DCC-39B0-021F-67EDB6005287}"/>
              </a:ext>
            </a:extLst>
          </p:cNvPr>
          <p:cNvSpPr txBox="1"/>
          <p:nvPr/>
        </p:nvSpPr>
        <p:spPr>
          <a:xfrm>
            <a:off x="122640" y="7623408"/>
            <a:ext cx="11211776" cy="569118"/>
          </a:xfrm>
          <a:prstGeom prst="rect">
            <a:avLst/>
          </a:prstGeom>
        </p:spPr>
        <p:txBody>
          <a:bodyPr lIns="50800" tIns="50800" rIns="50800" bIns="50800" rtlCol="0" anchor="ctr"/>
          <a:lstStyle/>
          <a:p>
            <a:pPr algn="l">
              <a:lnSpc>
                <a:spcPts val="1980"/>
              </a:lnSpc>
            </a:pPr>
            <a:r>
              <a:rPr lang="en-US" sz="1050" b="1" dirty="0">
                <a:solidFill>
                  <a:srgbClr val="AFABAB"/>
                </a:solidFill>
                <a:latin typeface="Calibri (MS) Bold"/>
                <a:ea typeface="Calibri (MS) Bold"/>
                <a:cs typeface="Calibri (MS) Bold"/>
                <a:sym typeface="Calibri (MS) Bold"/>
              </a:rPr>
              <a:t>CONFIDENTIAL</a:t>
            </a:r>
            <a:r>
              <a:rPr lang="en-US" sz="1050" dirty="0">
                <a:solidFill>
                  <a:srgbClr val="AFABAB"/>
                </a:solidFill>
                <a:latin typeface="Calibri (MS)"/>
                <a:ea typeface="Calibri (MS)"/>
                <a:cs typeface="Calibri (MS)"/>
                <a:sym typeface="Calibri (MS)"/>
              </a:rPr>
              <a:t>: The information in this document belongs to Boston Institute of Analytics LLC. Any unauthorized sharing of this material is prohibited and subject to legal action under breach of IP and confidentiality clauses. C</a:t>
            </a:r>
          </a:p>
        </p:txBody>
      </p:sp>
    </p:spTree>
    <p:extLst>
      <p:ext uri="{BB962C8B-B14F-4D97-AF65-F5344CB8AC3E}">
        <p14:creationId xmlns:p14="http://schemas.microsoft.com/office/powerpoint/2010/main" val="2751170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510246"/>
            <a:ext cx="14630400" cy="21183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920" b="1" dirty="0">
                <a:latin typeface="Calibri" panose="020F0502020204030204" pitchFamily="34" charset="0"/>
              </a:rPr>
              <a:t>Thank You!</a:t>
            </a:r>
            <a:endParaRPr lang="en-IN" sz="792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1864</Words>
  <Application>Microsoft Office PowerPoint</Application>
  <PresentationFormat>Custom</PresentationFormat>
  <Paragraphs>166</Paragraphs>
  <Slides>17</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Calibri</vt:lpstr>
      <vt:lpstr>Instrument Sans Medium</vt:lpstr>
      <vt:lpstr>Instrument Sans Light</vt:lpstr>
      <vt:lpstr>Calibri (MS)</vt:lpstr>
      <vt:lpstr>Gill Sans MT</vt:lpstr>
      <vt:lpstr>Instrument Sans Semi Bold</vt:lpstr>
      <vt:lpstr>Calibri (MS)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Shubham</dc:creator>
  <cp:lastModifiedBy>Shubham Adate</cp:lastModifiedBy>
  <cp:revision>10</cp:revision>
  <dcterms:created xsi:type="dcterms:W3CDTF">2025-10-03T09:00:53Z</dcterms:created>
  <dcterms:modified xsi:type="dcterms:W3CDTF">2025-10-10T10:41:00Z</dcterms:modified>
</cp:coreProperties>
</file>